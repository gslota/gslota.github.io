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45"/>
  </p:notesMasterIdLst>
  <p:handoutMasterIdLst>
    <p:handoutMasterId r:id="rId46"/>
  </p:handoutMasterIdLst>
  <p:sldIdLst>
    <p:sldId id="260" r:id="rId2"/>
    <p:sldId id="872" r:id="rId3"/>
    <p:sldId id="871" r:id="rId4"/>
    <p:sldId id="873" r:id="rId5"/>
    <p:sldId id="874" r:id="rId6"/>
    <p:sldId id="829" r:id="rId7"/>
    <p:sldId id="833" r:id="rId8"/>
    <p:sldId id="831" r:id="rId9"/>
    <p:sldId id="803" r:id="rId10"/>
    <p:sldId id="834" r:id="rId11"/>
    <p:sldId id="835" r:id="rId12"/>
    <p:sldId id="836" r:id="rId13"/>
    <p:sldId id="837" r:id="rId14"/>
    <p:sldId id="838" r:id="rId15"/>
    <p:sldId id="839" r:id="rId16"/>
    <p:sldId id="850" r:id="rId17"/>
    <p:sldId id="851" r:id="rId18"/>
    <p:sldId id="854" r:id="rId19"/>
    <p:sldId id="813" r:id="rId20"/>
    <p:sldId id="866" r:id="rId21"/>
    <p:sldId id="867" r:id="rId22"/>
    <p:sldId id="868" r:id="rId23"/>
    <p:sldId id="862" r:id="rId24"/>
    <p:sldId id="857" r:id="rId25"/>
    <p:sldId id="858" r:id="rId26"/>
    <p:sldId id="859" r:id="rId27"/>
    <p:sldId id="864" r:id="rId28"/>
    <p:sldId id="860" r:id="rId29"/>
    <p:sldId id="865" r:id="rId30"/>
    <p:sldId id="853" r:id="rId31"/>
    <p:sldId id="800" r:id="rId32"/>
    <p:sldId id="863" r:id="rId33"/>
    <p:sldId id="840" r:id="rId34"/>
    <p:sldId id="841" r:id="rId35"/>
    <p:sldId id="842" r:id="rId36"/>
    <p:sldId id="843" r:id="rId37"/>
    <p:sldId id="844" r:id="rId38"/>
    <p:sldId id="845" r:id="rId39"/>
    <p:sldId id="846" r:id="rId40"/>
    <p:sldId id="847" r:id="rId41"/>
    <p:sldId id="848" r:id="rId42"/>
    <p:sldId id="849" r:id="rId43"/>
    <p:sldId id="856" r:id="rId4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48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48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48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48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48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48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48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48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48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9900CC"/>
    <a:srgbClr val="9999FF"/>
    <a:srgbClr val="1C7BA9"/>
    <a:srgbClr val="33CCFF"/>
    <a:srgbClr val="FF33CC"/>
    <a:srgbClr val="A9A203"/>
    <a:srgbClr val="00CC66"/>
    <a:srgbClr val="FFF2D0"/>
    <a:srgbClr val="99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91" autoAdjust="0"/>
    <p:restoredTop sz="86679" autoAdjust="0"/>
  </p:normalViewPr>
  <p:slideViewPr>
    <p:cSldViewPr snapToGrid="0">
      <p:cViewPr varScale="1">
        <p:scale>
          <a:sx n="65" d="100"/>
          <a:sy n="65" d="100"/>
        </p:scale>
        <p:origin x="606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70" d="100"/>
          <a:sy n="70" d="100"/>
        </p:scale>
        <p:origin x="-2802" y="-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556FA9-E5F2-4613-B381-5A0D94682FD1}" type="datetimeFigureOut">
              <a:rPr lang="en-US" smtClean="0"/>
              <a:pPr/>
              <a:t>2/20/2014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6632E1-7151-471A-9A77-FB1F8D93020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96437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C5D640B-A817-4DA1-82F2-5F633499091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11091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48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48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48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48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48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9FDCD26-3ED2-4BF4-810F-C36EFD339A1F}" type="slidenum">
              <a:rPr lang="en-US"/>
              <a:pPr/>
              <a:t>1</a:t>
            </a:fld>
            <a:endParaRPr lang="en-US"/>
          </a:p>
        </p:txBody>
      </p:sp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9892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5D640B-A817-4DA1-82F2-5F6334990916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059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1866900"/>
            <a:ext cx="9144000" cy="3124200"/>
          </a:xfrm>
          <a:ln w="25400"/>
        </p:spPr>
        <p:txBody>
          <a:bodyPr lIns="228600" tIns="228600" rIns="228600" bIns="228600" anchor="t"/>
          <a:lstStyle>
            <a:lvl1pPr algn="ctr">
              <a:defRPr sz="4000" b="0">
                <a:solidFill>
                  <a:srgbClr val="0000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3429000"/>
            <a:ext cx="9144000" cy="1524000"/>
          </a:xfrm>
          <a:ln w="25400"/>
        </p:spPr>
        <p:txBody>
          <a:bodyPr lIns="228600" tIns="228600" rIns="228600" bIns="228600" anchor="ctr"/>
          <a:lstStyle>
            <a:lvl1pPr marL="0" indent="0" algn="ctr">
              <a:buFontTx/>
              <a:buNone/>
              <a:defRPr sz="2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039" y="1271588"/>
            <a:ext cx="8305075" cy="489553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47040" y="111760"/>
            <a:ext cx="831088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2475" y="6467475"/>
            <a:ext cx="628650" cy="2476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4478CD-BAEC-43D4-A9EC-3154A892158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2475" y="6467475"/>
            <a:ext cx="628650" cy="2476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4478CD-BAEC-43D4-A9EC-3154A892158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47040" y="111760"/>
            <a:ext cx="831088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47039" y="1285874"/>
            <a:ext cx="8325485" cy="4911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  <a:p>
            <a:pPr lvl="4"/>
            <a:endParaRPr lang="en-US" dirty="0" smtClean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2475" y="6467475"/>
            <a:ext cx="628650" cy="2476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4478CD-BAEC-43D4-A9EC-3154A892158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</p:sldLayoutIdLst>
  <p:transition advClick="0"/>
  <p:timing>
    <p:tnLst>
      <p:par>
        <p:cTn id="1" dur="indefinite" restart="never" nodeType="tmRoot"/>
      </p:par>
    </p:tnLst>
  </p:timing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3600" b="0">
          <a:solidFill>
            <a:srgbClr val="0000FF"/>
          </a:solidFill>
          <a:latin typeface="Calibri" pitchFamily="34" charset="0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800">
          <a:solidFill>
            <a:srgbClr val="06405C"/>
          </a:solidFill>
          <a:latin typeface="Arial" charset="0"/>
          <a:ea typeface="ＭＳ Ｐゴシック" pitchFamily="48" charset="-128"/>
        </a:defRPr>
      </a:lvl2pPr>
      <a:lvl3pPr algn="l" rtl="0" fontAlgn="base">
        <a:spcBef>
          <a:spcPct val="0"/>
        </a:spcBef>
        <a:spcAft>
          <a:spcPct val="0"/>
        </a:spcAft>
        <a:defRPr sz="2800">
          <a:solidFill>
            <a:srgbClr val="06405C"/>
          </a:solidFill>
          <a:latin typeface="Arial" charset="0"/>
          <a:ea typeface="ＭＳ Ｐゴシック" pitchFamily="48" charset="-128"/>
        </a:defRPr>
      </a:lvl3pPr>
      <a:lvl4pPr algn="l" rtl="0" fontAlgn="base">
        <a:spcBef>
          <a:spcPct val="0"/>
        </a:spcBef>
        <a:spcAft>
          <a:spcPct val="0"/>
        </a:spcAft>
        <a:defRPr sz="2800">
          <a:solidFill>
            <a:srgbClr val="06405C"/>
          </a:solidFill>
          <a:latin typeface="Arial" charset="0"/>
          <a:ea typeface="ＭＳ Ｐゴシック" pitchFamily="48" charset="-128"/>
        </a:defRPr>
      </a:lvl4pPr>
      <a:lvl5pPr algn="l" rtl="0" fontAlgn="base">
        <a:spcBef>
          <a:spcPct val="0"/>
        </a:spcBef>
        <a:spcAft>
          <a:spcPct val="0"/>
        </a:spcAft>
        <a:defRPr sz="2800">
          <a:solidFill>
            <a:srgbClr val="06405C"/>
          </a:solidFill>
          <a:latin typeface="Arial" charset="0"/>
          <a:ea typeface="ＭＳ Ｐゴシック" pitchFamily="48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2800">
          <a:solidFill>
            <a:srgbClr val="06405C"/>
          </a:solidFill>
          <a:latin typeface="Arial" charset="0"/>
          <a:ea typeface="ＭＳ Ｐゴシック" pitchFamily="48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2800">
          <a:solidFill>
            <a:srgbClr val="06405C"/>
          </a:solidFill>
          <a:latin typeface="Arial" charset="0"/>
          <a:ea typeface="ＭＳ Ｐゴシック" pitchFamily="48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2800">
          <a:solidFill>
            <a:srgbClr val="06405C"/>
          </a:solidFill>
          <a:latin typeface="Arial" charset="0"/>
          <a:ea typeface="ＭＳ Ｐゴシック" pitchFamily="48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2800">
          <a:solidFill>
            <a:srgbClr val="06405C"/>
          </a:solidFill>
          <a:latin typeface="Arial" charset="0"/>
          <a:ea typeface="ＭＳ Ｐゴシック" pitchFamily="48" charset="-128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Calibri" pitchFamily="34" charset="0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Calibri" pitchFamily="34" charset="0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Calibri" pitchFamily="34" charset="0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e.psu.edu/~madduri" TargetMode="External"/><Relationship Id="rId2" Type="http://schemas.openxmlformats.org/officeDocument/2006/relationships/hyperlink" Target="mailto:madduri@cse.psu.edu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5"/>
          <p:cNvSpPr txBox="1">
            <a:spLocks/>
          </p:cNvSpPr>
          <p:nvPr/>
        </p:nvSpPr>
        <p:spPr bwMode="auto">
          <a:xfrm>
            <a:off x="1" y="5841725"/>
            <a:ext cx="9144000" cy="590405"/>
          </a:xfrm>
          <a:prstGeom prst="rect">
            <a:avLst/>
          </a:prstGeom>
          <a:ln w="25400" cap="flat" cmpd="sng" algn="ctr">
            <a:noFill/>
            <a:prstDash val="solid"/>
            <a:miter lim="800000"/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228600" tIns="228600" rIns="228600" bIns="228600" numCol="1" anchor="ctr" anchorCtr="0" compatLnSpc="1">
            <a:prstTxWarp prst="textNoShape">
              <a:avLst/>
            </a:prstTxWarp>
          </a:bodyPr>
          <a:lstStyle/>
          <a:p>
            <a:pPr lvl="0" algn="ctr" eaLnBrk="1" hangingPunct="1">
              <a:spcBef>
                <a:spcPct val="20000"/>
              </a:spcBef>
              <a:defRPr/>
            </a:pPr>
            <a:r>
              <a:rPr lang="en-US" sz="2000" b="1" dirty="0" smtClean="0">
                <a:solidFill>
                  <a:schemeClr val="tx1"/>
                </a:solidFill>
              </a:rPr>
              <a:t>SIAM PP14</a:t>
            </a:r>
          </a:p>
          <a:p>
            <a:pPr lvl="0" algn="ctr" eaLnBrk="1" hangingPunct="1">
              <a:spcBef>
                <a:spcPct val="20000"/>
              </a:spcBef>
              <a:defRPr/>
            </a:pPr>
            <a:r>
              <a:rPr lang="en-US" sz="2000" b="1" kern="0" dirty="0" smtClean="0">
                <a:solidFill>
                  <a:schemeClr val="tx1"/>
                </a:solidFill>
                <a:latin typeface="Calibri" pitchFamily="34" charset="0"/>
              </a:rPr>
              <a:t>February 20, 2014</a:t>
            </a:r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0" y="1157469"/>
            <a:ext cx="9144000" cy="1357132"/>
          </a:xfrm>
        </p:spPr>
        <p:txBody>
          <a:bodyPr/>
          <a:lstStyle/>
          <a:p>
            <a:r>
              <a:rPr lang="en-US" b="1" dirty="0"/>
              <a:t>Characterizing Biological Networks Using </a:t>
            </a:r>
            <a:r>
              <a:rPr lang="en-US" b="1" dirty="0" err="1"/>
              <a:t>Subgraph</a:t>
            </a:r>
            <a:r>
              <a:rPr lang="en-US" b="1" dirty="0"/>
              <a:t> Counting and Enumeration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0" y="2733831"/>
            <a:ext cx="9144000" cy="2298145"/>
          </a:xfr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  <a:latin typeface="Calibri" pitchFamily="34" charset="0"/>
              </a:rPr>
              <a:t>George Slota	Kamesh Madduri</a:t>
            </a:r>
          </a:p>
          <a:p>
            <a:pPr algn="ctr"/>
            <a:r>
              <a:rPr lang="en-US" sz="2800" dirty="0" smtClean="0">
                <a:solidFill>
                  <a:schemeClr val="tx1"/>
                </a:solidFill>
                <a:latin typeface="Calibri" pitchFamily="34" charset="0"/>
              </a:rPr>
              <a:t> </a:t>
            </a:r>
            <a:r>
              <a:rPr lang="en-US" dirty="0" smtClean="0">
                <a:solidFill>
                  <a:schemeClr val="tx1"/>
                </a:solidFill>
                <a:latin typeface="Calibri" pitchFamily="34" charset="0"/>
              </a:rPr>
              <a:t>madduri@cse.psu.edu</a:t>
            </a:r>
          </a:p>
          <a:p>
            <a:pPr lvl="0">
              <a:defRPr/>
            </a:pPr>
            <a:r>
              <a:rPr lang="en-US" dirty="0" smtClean="0">
                <a:solidFill>
                  <a:schemeClr val="bg2">
                    <a:lumMod val="25000"/>
                  </a:schemeClr>
                </a:solidFill>
                <a:latin typeface="Calibri" pitchFamily="34" charset="0"/>
              </a:rPr>
              <a:t>Computer Science and Engineering</a:t>
            </a:r>
            <a:endParaRPr lang="en-US" sz="2800" dirty="0" smtClean="0">
              <a:solidFill>
                <a:schemeClr val="bg2">
                  <a:lumMod val="25000"/>
                </a:schemeClr>
              </a:solidFill>
              <a:latin typeface="Calibri" pitchFamily="34" charset="0"/>
            </a:endParaRPr>
          </a:p>
          <a:p>
            <a:pPr lvl="0">
              <a:defRPr/>
            </a:pPr>
            <a:r>
              <a:rPr lang="en-US" sz="2400" b="1" dirty="0" smtClean="0">
                <a:solidFill>
                  <a:schemeClr val="bg2">
                    <a:lumMod val="25000"/>
                  </a:schemeClr>
                </a:solidFill>
                <a:latin typeface="Calibri" pitchFamily="34" charset="0"/>
              </a:rPr>
              <a:t>The Pennsylvania State University</a:t>
            </a: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47040" y="4368750"/>
            <a:ext cx="4995116" cy="104390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3</a:t>
            </a:r>
            <a:r>
              <a:rPr lang="en-US" dirty="0" smtClean="0"/>
              <a:t> out of 5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47040" y="3297411"/>
            <a:ext cx="8310880" cy="838200"/>
          </a:xfrm>
        </p:spPr>
        <p:txBody>
          <a:bodyPr/>
          <a:lstStyle/>
          <a:p>
            <a:r>
              <a:rPr lang="en-US" dirty="0" smtClean="0"/>
              <a:t># of speakers mentioning BFS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34478CD-BAEC-43D4-A9EC-3154A8921586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Title 2"/>
          <p:cNvSpPr txBox="1">
            <a:spLocks/>
          </p:cNvSpPr>
          <p:nvPr/>
        </p:nvSpPr>
        <p:spPr bwMode="auto">
          <a:xfrm>
            <a:off x="407711" y="913088"/>
            <a:ext cx="831088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b="0">
                <a:solidFill>
                  <a:srgbClr val="0000FF"/>
                </a:solidFill>
                <a:latin typeface="Calibri" pitchFamily="34" charset="0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rgbClr val="06405C"/>
                </a:solidFill>
                <a:latin typeface="Arial" charset="0"/>
                <a:ea typeface="ＭＳ Ｐゴシック" pitchFamily="48" charset="-128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rgbClr val="06405C"/>
                </a:solidFill>
                <a:latin typeface="Arial" charset="0"/>
                <a:ea typeface="ＭＳ Ｐゴシック" pitchFamily="48" charset="-128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rgbClr val="06405C"/>
                </a:solidFill>
                <a:latin typeface="Arial" charset="0"/>
                <a:ea typeface="ＭＳ Ｐゴシック" pitchFamily="48" charset="-128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rgbClr val="06405C"/>
                </a:solidFill>
                <a:latin typeface="Arial" charset="0"/>
                <a:ea typeface="ＭＳ Ｐゴシック" pitchFamily="48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rgbClr val="06405C"/>
                </a:solidFill>
                <a:latin typeface="Arial" charset="0"/>
                <a:ea typeface="ＭＳ Ｐゴシック" pitchFamily="48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rgbClr val="06405C"/>
                </a:solidFill>
                <a:latin typeface="Arial" charset="0"/>
                <a:ea typeface="ＭＳ Ｐゴシック" pitchFamily="48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rgbClr val="06405C"/>
                </a:solidFill>
                <a:latin typeface="Arial" charset="0"/>
                <a:ea typeface="ＭＳ Ｐゴシック" pitchFamily="48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rgbClr val="06405C"/>
                </a:solidFill>
                <a:latin typeface="Arial" charset="0"/>
                <a:ea typeface="ＭＳ Ｐゴシック" pitchFamily="48" charset="-128"/>
              </a:defRPr>
            </a:lvl9pPr>
          </a:lstStyle>
          <a:p>
            <a:pPr eaLnBrk="1" hangingPunct="1"/>
            <a:r>
              <a:rPr lang="en-US" kern="0" dirty="0" smtClean="0"/>
              <a:t># of speakers mentioning </a:t>
            </a:r>
          </a:p>
          <a:p>
            <a:pPr eaLnBrk="1" hangingPunct="1"/>
            <a:r>
              <a:rPr lang="en-US" kern="0" dirty="0" smtClean="0"/>
              <a:t>protein interaction networks</a:t>
            </a:r>
            <a:endParaRPr lang="en-US" kern="0" dirty="0"/>
          </a:p>
        </p:txBody>
      </p:sp>
      <p:sp>
        <p:nvSpPr>
          <p:cNvPr id="6" name="Content Placeholder 1"/>
          <p:cNvSpPr txBox="1">
            <a:spLocks/>
          </p:cNvSpPr>
          <p:nvPr/>
        </p:nvSpPr>
        <p:spPr bwMode="auto">
          <a:xfrm>
            <a:off x="447040" y="2278625"/>
            <a:ext cx="4995116" cy="1043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buFontTx/>
              <a:buNone/>
            </a:pPr>
            <a:r>
              <a:rPr lang="en-US" kern="0" dirty="0" smtClean="0"/>
              <a:t>4 out of 5 (including me)</a:t>
            </a: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1349496326"/>
      </p:ext>
    </p:extLst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NSF ACI </a:t>
            </a:r>
            <a:r>
              <a:rPr lang="en-US" dirty="0" smtClean="0"/>
              <a:t>award 1253881</a:t>
            </a:r>
            <a:endParaRPr lang="en-US" dirty="0" smtClean="0"/>
          </a:p>
          <a:p>
            <a:r>
              <a:rPr lang="en-US" dirty="0" smtClean="0"/>
              <a:t>NSF XSEDE </a:t>
            </a:r>
            <a:r>
              <a:rPr lang="en-US" dirty="0"/>
              <a:t>allocation </a:t>
            </a:r>
            <a:r>
              <a:rPr lang="en-US" dirty="0" smtClean="0"/>
              <a:t>TG-CCR13006</a:t>
            </a:r>
          </a:p>
          <a:p>
            <a:r>
              <a:rPr lang="en-US" dirty="0" smtClean="0"/>
              <a:t>Siva </a:t>
            </a:r>
            <a:r>
              <a:rPr lang="en-US" dirty="0" err="1" smtClean="0"/>
              <a:t>Rajamanickam</a:t>
            </a:r>
            <a:r>
              <a:rPr lang="en-US" dirty="0" smtClean="0"/>
              <a:t>, Sandia</a:t>
            </a:r>
          </a:p>
          <a:p>
            <a:endParaRPr lang="en-US" dirty="0"/>
          </a:p>
          <a:p>
            <a:r>
              <a:rPr lang="en-US" dirty="0" smtClean="0"/>
              <a:t>Current and past organizers of parallel graph analysis </a:t>
            </a:r>
            <a:r>
              <a:rPr lang="en-US" dirty="0" err="1" smtClean="0"/>
              <a:t>minisymposia</a:t>
            </a:r>
            <a:r>
              <a:rPr lang="en-US" dirty="0" smtClean="0"/>
              <a:t> at SIAM PP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Acknowledgments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34478CD-BAEC-43D4-A9EC-3154A892158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430162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34478CD-BAEC-43D4-A9EC-3154A8921586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41" y="301149"/>
            <a:ext cx="6362700" cy="16192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938" y="2314972"/>
            <a:ext cx="5819775" cy="3457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498882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SIAM PP06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34478CD-BAEC-43D4-A9EC-3154A8921586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020" y="1122413"/>
            <a:ext cx="6496050" cy="481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945220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22574" y="111760"/>
            <a:ext cx="8310880" cy="838200"/>
          </a:xfrm>
        </p:spPr>
        <p:txBody>
          <a:bodyPr/>
          <a:lstStyle/>
          <a:p>
            <a:r>
              <a:rPr lang="en-US" sz="3200" dirty="0" smtClean="0"/>
              <a:t>Network motifs in protein interaction networks (PINs) and gene-disease networks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34478CD-BAEC-43D4-A9EC-3154A8921586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Title 2"/>
          <p:cNvSpPr txBox="1">
            <a:spLocks/>
          </p:cNvSpPr>
          <p:nvPr/>
        </p:nvSpPr>
        <p:spPr bwMode="auto">
          <a:xfrm>
            <a:off x="451956" y="3671039"/>
            <a:ext cx="831088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b="0">
                <a:solidFill>
                  <a:srgbClr val="0000FF"/>
                </a:solidFill>
                <a:latin typeface="Calibri" pitchFamily="34" charset="0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rgbClr val="06405C"/>
                </a:solidFill>
                <a:latin typeface="Arial" charset="0"/>
                <a:ea typeface="ＭＳ Ｐゴシック" pitchFamily="48" charset="-128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rgbClr val="06405C"/>
                </a:solidFill>
                <a:latin typeface="Arial" charset="0"/>
                <a:ea typeface="ＭＳ Ｐゴシック" pitchFamily="48" charset="-128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rgbClr val="06405C"/>
                </a:solidFill>
                <a:latin typeface="Arial" charset="0"/>
                <a:ea typeface="ＭＳ Ｐゴシック" pitchFamily="48" charset="-128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rgbClr val="06405C"/>
                </a:solidFill>
                <a:latin typeface="Arial" charset="0"/>
                <a:ea typeface="ＭＳ Ｐゴシック" pitchFamily="48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rgbClr val="06405C"/>
                </a:solidFill>
                <a:latin typeface="Arial" charset="0"/>
                <a:ea typeface="ＭＳ Ｐゴシック" pitchFamily="48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rgbClr val="06405C"/>
                </a:solidFill>
                <a:latin typeface="Arial" charset="0"/>
                <a:ea typeface="ＭＳ Ｐゴシック" pitchFamily="48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rgbClr val="06405C"/>
                </a:solidFill>
                <a:latin typeface="Arial" charset="0"/>
                <a:ea typeface="ＭＳ Ｐゴシック" pitchFamily="48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rgbClr val="06405C"/>
                </a:solidFill>
                <a:latin typeface="Arial" charset="0"/>
                <a:ea typeface="ＭＳ Ｐゴシック" pitchFamily="48" charset="-128"/>
              </a:defRPr>
            </a:lvl9pPr>
          </a:lstStyle>
          <a:p>
            <a:pPr eaLnBrk="1" hangingPunct="1"/>
            <a:r>
              <a:rPr lang="en-US" sz="3200" kern="0" dirty="0" smtClean="0"/>
              <a:t>Signaling pathways in PINs</a:t>
            </a:r>
            <a:endParaRPr lang="en-US" sz="3200" kern="0" dirty="0"/>
          </a:p>
        </p:txBody>
      </p:sp>
      <p:pic>
        <p:nvPicPr>
          <p:cNvPr id="1026" name="Picture 2" descr="http://images.the-scientist.com/content/figures/0890-3670-040621-18-1-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524" y="1058504"/>
            <a:ext cx="2764606" cy="2150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www.biomedcentral.com/content/figures/1471-2105-10-318-6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1061" y="2870442"/>
            <a:ext cx="3746806" cy="830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7867" y="530860"/>
            <a:ext cx="2962103" cy="291314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713407" y="3429253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 smtClean="0"/>
              <a:t>DisGeNET</a:t>
            </a:r>
            <a:endParaRPr lang="en-US" sz="1800" dirty="0"/>
          </a:p>
        </p:txBody>
      </p:sp>
      <p:sp>
        <p:nvSpPr>
          <p:cNvPr id="10" name="TextBox 9"/>
          <p:cNvSpPr txBox="1"/>
          <p:nvPr/>
        </p:nvSpPr>
        <p:spPr>
          <a:xfrm>
            <a:off x="7703574" y="3094958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 smtClean="0"/>
              <a:t>Diseasome</a:t>
            </a:r>
            <a:endParaRPr lang="en-US" sz="1800" dirty="0"/>
          </a:p>
        </p:txBody>
      </p:sp>
      <p:sp>
        <p:nvSpPr>
          <p:cNvPr id="11" name="TextBox 10"/>
          <p:cNvSpPr txBox="1"/>
          <p:nvPr/>
        </p:nvSpPr>
        <p:spPr>
          <a:xfrm>
            <a:off x="2826774" y="2391952"/>
            <a:ext cx="1697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/>
              <a:t>C </a:t>
            </a:r>
            <a:r>
              <a:rPr lang="en-US" sz="1800" dirty="0" err="1" smtClean="0"/>
              <a:t>Elegans</a:t>
            </a:r>
            <a:r>
              <a:rPr lang="en-US" sz="1800" dirty="0" smtClean="0"/>
              <a:t> PIN</a:t>
            </a:r>
            <a:endParaRPr lang="en-US" sz="1800" dirty="0"/>
          </a:p>
        </p:txBody>
      </p:sp>
      <p:sp>
        <p:nvSpPr>
          <p:cNvPr id="8" name="Rounded Rectangle 7"/>
          <p:cNvSpPr/>
          <p:nvPr/>
        </p:nvSpPr>
        <p:spPr bwMode="auto">
          <a:xfrm>
            <a:off x="456622" y="4657020"/>
            <a:ext cx="1091381" cy="48669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i="0" u="none" strike="noStrike" normalizeH="0" baseline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charset="0"/>
                <a:ea typeface="ＭＳ Ｐゴシック" pitchFamily="48" charset="-128"/>
              </a:rPr>
              <a:t>SHC1</a:t>
            </a:r>
            <a:endParaRPr kumimoji="0" lang="en-US" sz="2400" i="0" u="none" strike="noStrike" normalizeH="0" baseline="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charset="0"/>
              <a:ea typeface="ＭＳ Ｐゴシック" pitchFamily="48" charset="-128"/>
            </a:endParaRPr>
          </a:p>
        </p:txBody>
      </p:sp>
      <p:sp>
        <p:nvSpPr>
          <p:cNvPr id="13" name="Rounded Rectangle 12"/>
          <p:cNvSpPr/>
          <p:nvPr/>
        </p:nvSpPr>
        <p:spPr bwMode="auto">
          <a:xfrm>
            <a:off x="1975707" y="4657020"/>
            <a:ext cx="1091381" cy="48669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i="0" u="none" strike="noStrike" normalizeH="0" baseline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charset="0"/>
                <a:ea typeface="ＭＳ Ｐゴシック" pitchFamily="48" charset="-128"/>
              </a:rPr>
              <a:t>Grb2</a:t>
            </a:r>
            <a:endParaRPr kumimoji="0" lang="en-US" sz="2400" i="0" u="none" strike="noStrike" normalizeH="0" baseline="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charset="0"/>
              <a:ea typeface="ＭＳ Ｐゴシック" pitchFamily="48" charset="-128"/>
            </a:endParaRPr>
          </a:p>
        </p:txBody>
      </p:sp>
      <p:sp>
        <p:nvSpPr>
          <p:cNvPr id="14" name="Rounded Rectangle 13"/>
          <p:cNvSpPr/>
          <p:nvPr/>
        </p:nvSpPr>
        <p:spPr bwMode="auto">
          <a:xfrm>
            <a:off x="3423076" y="4657019"/>
            <a:ext cx="1091381" cy="48669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i="0" u="none" strike="noStrike" normalizeH="0" baseline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charset="0"/>
                <a:ea typeface="ＭＳ Ｐゴシック" pitchFamily="48" charset="-128"/>
              </a:rPr>
              <a:t>EGFR</a:t>
            </a:r>
            <a:endParaRPr kumimoji="0" lang="en-US" sz="2400" i="0" u="none" strike="noStrike" normalizeH="0" baseline="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charset="0"/>
              <a:ea typeface="ＭＳ Ｐゴシック" pitchFamily="48" charset="-128"/>
            </a:endParaRPr>
          </a:p>
        </p:txBody>
      </p:sp>
      <p:sp>
        <p:nvSpPr>
          <p:cNvPr id="15" name="Rounded Rectangle 14"/>
          <p:cNvSpPr/>
          <p:nvPr/>
        </p:nvSpPr>
        <p:spPr bwMode="auto">
          <a:xfrm>
            <a:off x="4840361" y="4657019"/>
            <a:ext cx="1091381" cy="48669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i="0" u="none" strike="noStrike" normalizeH="0" baseline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charset="0"/>
                <a:ea typeface="ＭＳ Ｐゴシック" pitchFamily="48" charset="-128"/>
              </a:rPr>
              <a:t>PTPN1</a:t>
            </a:r>
            <a:endParaRPr kumimoji="0" lang="en-US" sz="2400" i="0" u="none" strike="noStrike" normalizeH="0" baseline="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charset="0"/>
              <a:ea typeface="ＭＳ Ｐゴシック" pitchFamily="48" charset="-128"/>
            </a:endParaRPr>
          </a:p>
        </p:txBody>
      </p:sp>
      <p:sp>
        <p:nvSpPr>
          <p:cNvPr id="16" name="Rounded Rectangle 15"/>
          <p:cNvSpPr/>
          <p:nvPr/>
        </p:nvSpPr>
        <p:spPr bwMode="auto">
          <a:xfrm>
            <a:off x="6305659" y="4657019"/>
            <a:ext cx="1091381" cy="48669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i="0" u="none" strike="noStrike" normalizeH="0" baseline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charset="0"/>
                <a:ea typeface="ＭＳ Ｐゴシック" pitchFamily="48" charset="-128"/>
              </a:rPr>
              <a:t>INSR</a:t>
            </a:r>
            <a:endParaRPr kumimoji="0" lang="en-US" sz="2400" i="0" u="none" strike="noStrike" normalizeH="0" baseline="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charset="0"/>
              <a:ea typeface="ＭＳ Ｐゴシック" pitchFamily="48" charset="-128"/>
            </a:endParaRPr>
          </a:p>
        </p:txBody>
      </p:sp>
      <p:sp>
        <p:nvSpPr>
          <p:cNvPr id="17" name="Rounded Rectangle 16"/>
          <p:cNvSpPr/>
          <p:nvPr/>
        </p:nvSpPr>
        <p:spPr bwMode="auto">
          <a:xfrm>
            <a:off x="7753022" y="4657018"/>
            <a:ext cx="1091381" cy="48669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i="0" u="none" strike="noStrike" normalizeH="0" baseline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charset="0"/>
                <a:ea typeface="ＭＳ Ｐゴシック" pitchFamily="48" charset="-128"/>
              </a:rPr>
              <a:t>Irs1</a:t>
            </a:r>
            <a:endParaRPr kumimoji="0" lang="en-US" sz="2400" i="0" u="none" strike="noStrike" normalizeH="0" baseline="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charset="0"/>
              <a:ea typeface="ＭＳ Ｐゴシック" pitchFamily="48" charset="-128"/>
            </a:endParaRPr>
          </a:p>
        </p:txBody>
      </p:sp>
      <p:cxnSp>
        <p:nvCxnSpPr>
          <p:cNvPr id="12" name="Straight Arrow Connector 11"/>
          <p:cNvCxnSpPr>
            <a:stCxn id="8" idx="3"/>
            <a:endCxn id="13" idx="1"/>
          </p:cNvCxnSpPr>
          <p:nvPr/>
        </p:nvCxnSpPr>
        <p:spPr bwMode="auto">
          <a:xfrm>
            <a:off x="1548003" y="4900369"/>
            <a:ext cx="427704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3" idx="3"/>
            <a:endCxn id="14" idx="1"/>
          </p:cNvCxnSpPr>
          <p:nvPr/>
        </p:nvCxnSpPr>
        <p:spPr bwMode="auto">
          <a:xfrm flipV="1">
            <a:off x="3067088" y="4900368"/>
            <a:ext cx="355988" cy="1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4" idx="3"/>
            <a:endCxn id="15" idx="1"/>
          </p:cNvCxnSpPr>
          <p:nvPr/>
        </p:nvCxnSpPr>
        <p:spPr bwMode="auto">
          <a:xfrm>
            <a:off x="4514457" y="4900368"/>
            <a:ext cx="325904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15" idx="3"/>
            <a:endCxn id="16" idx="1"/>
          </p:cNvCxnSpPr>
          <p:nvPr/>
        </p:nvCxnSpPr>
        <p:spPr bwMode="auto">
          <a:xfrm>
            <a:off x="5931742" y="4900368"/>
            <a:ext cx="373917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16" idx="3"/>
            <a:endCxn id="17" idx="1"/>
          </p:cNvCxnSpPr>
          <p:nvPr/>
        </p:nvCxnSpPr>
        <p:spPr bwMode="auto">
          <a:xfrm flipV="1">
            <a:off x="7397040" y="4900367"/>
            <a:ext cx="355982" cy="1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 bwMode="auto">
          <a:xfrm>
            <a:off x="609020" y="5841807"/>
            <a:ext cx="1091381" cy="48669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i="0" u="none" strike="noStrike" normalizeH="0" baseline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charset="0"/>
                <a:ea typeface="ＭＳ Ｐゴシック" pitchFamily="48" charset="-128"/>
              </a:rPr>
              <a:t>SH3KBP1</a:t>
            </a:r>
            <a:endParaRPr kumimoji="0" lang="en-US" sz="2400" i="0" u="none" strike="noStrike" normalizeH="0" baseline="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charset="0"/>
              <a:ea typeface="ＭＳ Ｐゴシック" pitchFamily="48" charset="-128"/>
            </a:endParaRPr>
          </a:p>
        </p:txBody>
      </p:sp>
      <p:sp>
        <p:nvSpPr>
          <p:cNvPr id="30" name="Rounded Rectangle 29"/>
          <p:cNvSpPr/>
          <p:nvPr/>
        </p:nvSpPr>
        <p:spPr bwMode="auto">
          <a:xfrm>
            <a:off x="2128105" y="5841807"/>
            <a:ext cx="1091381" cy="48669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i="0" u="none" strike="noStrike" normalizeH="0" baseline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charset="0"/>
                <a:ea typeface="ＭＳ Ｐゴシック" pitchFamily="48" charset="-128"/>
              </a:rPr>
              <a:t>CBL</a:t>
            </a:r>
            <a:endParaRPr kumimoji="0" lang="en-US" sz="2400" i="0" u="none" strike="noStrike" normalizeH="0" baseline="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charset="0"/>
              <a:ea typeface="ＭＳ Ｐゴシック" pitchFamily="48" charset="-128"/>
            </a:endParaRPr>
          </a:p>
        </p:txBody>
      </p:sp>
      <p:sp>
        <p:nvSpPr>
          <p:cNvPr id="31" name="Rounded Rectangle 30"/>
          <p:cNvSpPr/>
          <p:nvPr/>
        </p:nvSpPr>
        <p:spPr bwMode="auto">
          <a:xfrm>
            <a:off x="3575474" y="5841806"/>
            <a:ext cx="1091381" cy="48669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i="0" u="none" strike="noStrike" normalizeH="0" baseline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charset="0"/>
                <a:ea typeface="ＭＳ Ｐゴシック" pitchFamily="48" charset="-128"/>
              </a:rPr>
              <a:t>Grb2</a:t>
            </a:r>
            <a:endParaRPr kumimoji="0" lang="en-US" sz="2400" i="0" u="none" strike="noStrike" normalizeH="0" baseline="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charset="0"/>
              <a:ea typeface="ＭＳ Ｐゴシック" pitchFamily="48" charset="-128"/>
            </a:endParaRPr>
          </a:p>
        </p:txBody>
      </p:sp>
      <p:sp>
        <p:nvSpPr>
          <p:cNvPr id="32" name="Rounded Rectangle 31"/>
          <p:cNvSpPr/>
          <p:nvPr/>
        </p:nvSpPr>
        <p:spPr bwMode="auto">
          <a:xfrm>
            <a:off x="5027319" y="5387065"/>
            <a:ext cx="1091381" cy="48669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charset="0"/>
                <a:ea typeface="ＭＳ Ｐゴシック" pitchFamily="48" charset="-128"/>
              </a:rPr>
              <a:t>E</a:t>
            </a:r>
            <a:r>
              <a:rPr kumimoji="0" lang="en-US" sz="1600" i="0" u="none" strike="noStrike" normalizeH="0" baseline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charset="0"/>
                <a:ea typeface="ＭＳ Ｐゴシック" pitchFamily="48" charset="-128"/>
              </a:rPr>
              <a:t>GFR</a:t>
            </a:r>
            <a:endParaRPr kumimoji="0" lang="en-US" sz="2400" i="0" u="none" strike="noStrike" normalizeH="0" baseline="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charset="0"/>
              <a:ea typeface="ＭＳ Ｐゴシック" pitchFamily="48" charset="-128"/>
            </a:endParaRPr>
          </a:p>
        </p:txBody>
      </p:sp>
      <p:sp>
        <p:nvSpPr>
          <p:cNvPr id="33" name="Rounded Rectangle 32"/>
          <p:cNvSpPr/>
          <p:nvPr/>
        </p:nvSpPr>
        <p:spPr bwMode="auto">
          <a:xfrm>
            <a:off x="6458057" y="5841806"/>
            <a:ext cx="1091381" cy="48669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i="0" u="none" strike="noStrike" normalizeH="0" baseline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charset="0"/>
                <a:ea typeface="ＭＳ Ｐゴシック" pitchFamily="48" charset="-128"/>
              </a:rPr>
              <a:t>GRB2</a:t>
            </a:r>
            <a:endParaRPr kumimoji="0" lang="en-US" sz="2400" i="0" u="none" strike="noStrike" normalizeH="0" baseline="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charset="0"/>
              <a:ea typeface="ＭＳ Ｐゴシック" pitchFamily="48" charset="-128"/>
            </a:endParaRPr>
          </a:p>
        </p:txBody>
      </p:sp>
      <p:sp>
        <p:nvSpPr>
          <p:cNvPr id="34" name="Rounded Rectangle 33"/>
          <p:cNvSpPr/>
          <p:nvPr/>
        </p:nvSpPr>
        <p:spPr bwMode="auto">
          <a:xfrm>
            <a:off x="7892533" y="5846323"/>
            <a:ext cx="1091381" cy="48669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i="0" u="none" strike="noStrike" normalizeH="0" baseline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charset="0"/>
                <a:ea typeface="ＭＳ Ｐゴシック" pitchFamily="48" charset="-128"/>
              </a:rPr>
              <a:t>SOS1</a:t>
            </a:r>
            <a:endParaRPr kumimoji="0" lang="en-US" sz="2400" i="0" u="none" strike="noStrike" normalizeH="0" baseline="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charset="0"/>
              <a:ea typeface="ＭＳ Ｐゴシック" pitchFamily="48" charset="-128"/>
            </a:endParaRPr>
          </a:p>
        </p:txBody>
      </p:sp>
      <p:cxnSp>
        <p:nvCxnSpPr>
          <p:cNvPr id="35" name="Straight Arrow Connector 34"/>
          <p:cNvCxnSpPr>
            <a:stCxn id="29" idx="3"/>
            <a:endCxn id="30" idx="1"/>
          </p:cNvCxnSpPr>
          <p:nvPr/>
        </p:nvCxnSpPr>
        <p:spPr bwMode="auto">
          <a:xfrm>
            <a:off x="1700401" y="6085156"/>
            <a:ext cx="427704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0" idx="3"/>
            <a:endCxn id="31" idx="1"/>
          </p:cNvCxnSpPr>
          <p:nvPr/>
        </p:nvCxnSpPr>
        <p:spPr bwMode="auto">
          <a:xfrm flipV="1">
            <a:off x="3219486" y="6085155"/>
            <a:ext cx="355988" cy="1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1" idx="3"/>
            <a:endCxn id="32" idx="1"/>
          </p:cNvCxnSpPr>
          <p:nvPr/>
        </p:nvCxnSpPr>
        <p:spPr bwMode="auto">
          <a:xfrm flipV="1">
            <a:off x="4666855" y="5630414"/>
            <a:ext cx="360464" cy="454741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32" idx="3"/>
            <a:endCxn id="33" idx="1"/>
          </p:cNvCxnSpPr>
          <p:nvPr/>
        </p:nvCxnSpPr>
        <p:spPr bwMode="auto">
          <a:xfrm>
            <a:off x="6118700" y="5630414"/>
            <a:ext cx="339357" cy="454741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33" idx="3"/>
            <a:endCxn id="34" idx="1"/>
          </p:cNvCxnSpPr>
          <p:nvPr/>
        </p:nvCxnSpPr>
        <p:spPr bwMode="auto">
          <a:xfrm>
            <a:off x="7549438" y="6085155"/>
            <a:ext cx="343095" cy="4517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 bwMode="auto">
          <a:xfrm>
            <a:off x="5050456" y="6246156"/>
            <a:ext cx="1091381" cy="48669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charset="0"/>
                <a:ea typeface="ＭＳ Ｐゴシック" pitchFamily="48" charset="-128"/>
              </a:rPr>
              <a:t>SHC1</a:t>
            </a:r>
            <a:endParaRPr kumimoji="0" lang="en-US" sz="2400" i="0" u="none" strike="noStrike" normalizeH="0" baseline="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charset="0"/>
              <a:ea typeface="ＭＳ Ｐゴシック" pitchFamily="48" charset="-128"/>
            </a:endParaRPr>
          </a:p>
        </p:txBody>
      </p:sp>
      <p:cxnSp>
        <p:nvCxnSpPr>
          <p:cNvPr id="46" name="Straight Arrow Connector 45"/>
          <p:cNvCxnSpPr>
            <a:stCxn id="31" idx="3"/>
            <a:endCxn id="45" idx="1"/>
          </p:cNvCxnSpPr>
          <p:nvPr/>
        </p:nvCxnSpPr>
        <p:spPr bwMode="auto">
          <a:xfrm>
            <a:off x="4666855" y="6085155"/>
            <a:ext cx="383601" cy="40435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45" idx="3"/>
            <a:endCxn id="33" idx="1"/>
          </p:cNvCxnSpPr>
          <p:nvPr/>
        </p:nvCxnSpPr>
        <p:spPr bwMode="auto">
          <a:xfrm flipV="1">
            <a:off x="6141837" y="6085155"/>
            <a:ext cx="316220" cy="40435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4460149" y="4269129"/>
            <a:ext cx="4711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/>
              <a:t>Two high-scoring pathways from human PIN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744862386"/>
      </p:ext>
    </p:extLst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45" grpId="0" animBg="1"/>
      <p:bldP spid="5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800" dirty="0" smtClean="0"/>
                  <a:t>For </a:t>
                </a:r>
                <a:r>
                  <a:rPr lang="en-US" sz="2800" dirty="0" err="1" smtClean="0">
                    <a:solidFill>
                      <a:srgbClr val="0000FF"/>
                    </a:solidFill>
                  </a:rPr>
                  <a:t>subgraph</a:t>
                </a:r>
                <a:r>
                  <a:rPr lang="en-US" sz="2800" dirty="0" smtClean="0">
                    <a:solidFill>
                      <a:srgbClr val="0000FF"/>
                    </a:solidFill>
                  </a:rPr>
                  <a:t> counting</a:t>
                </a:r>
                <a:r>
                  <a:rPr lang="en-US" sz="2800" dirty="0" smtClean="0"/>
                  <a:t>: Parallel and memory-efficient implementation of an approximation algorithm based on the </a:t>
                </a:r>
                <a:r>
                  <a:rPr lang="en-US" sz="2800" dirty="0" smtClean="0">
                    <a:solidFill>
                      <a:srgbClr val="0000FF"/>
                    </a:solidFill>
                  </a:rPr>
                  <a:t>color-coding</a:t>
                </a:r>
                <a:r>
                  <a:rPr lang="en-US" sz="2800" dirty="0" smtClean="0"/>
                  <a:t> technique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en-US" sz="2400" dirty="0" smtClean="0"/>
                  <a:t> work (exhaustive search requires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400" dirty="0" smtClean="0"/>
                  <a:t> work)  </a:t>
                </a:r>
              </a:p>
              <a:p>
                <a:r>
                  <a:rPr lang="en-US" sz="2800" dirty="0" smtClean="0"/>
                  <a:t>Significantly </a:t>
                </a:r>
                <a:r>
                  <a:rPr lang="en-US" sz="2800" dirty="0"/>
                  <a:t>faster </a:t>
                </a:r>
                <a:r>
                  <a:rPr lang="en-US" sz="2800" dirty="0" smtClean="0"/>
                  <a:t>(at least </a:t>
                </a:r>
                <a:r>
                  <a:rPr lang="en-US" sz="2800" dirty="0" smtClean="0">
                    <a:solidFill>
                      <a:srgbClr val="0000FF"/>
                    </a:solidFill>
                  </a:rPr>
                  <a:t>10X</a:t>
                </a:r>
                <a:r>
                  <a:rPr lang="en-US" sz="2800" dirty="0" smtClean="0"/>
                  <a:t>) than </a:t>
                </a:r>
                <a:r>
                  <a:rPr lang="en-US" sz="2800" dirty="0"/>
                  <a:t>prior </a:t>
                </a:r>
                <a:r>
                  <a:rPr lang="en-US" sz="2800" dirty="0" smtClean="0"/>
                  <a:t>parallel color-coding </a:t>
                </a:r>
                <a:r>
                  <a:rPr lang="en-US" sz="2800" dirty="0"/>
                  <a:t>implementations</a:t>
                </a:r>
              </a:p>
              <a:p>
                <a:endParaRPr lang="en-US" sz="2400" dirty="0" smtClean="0"/>
              </a:p>
              <a:p>
                <a:r>
                  <a:rPr lang="en-US" sz="2400" dirty="0" smtClean="0"/>
                  <a:t>Multicore parallelism: Slota and Madduri, Proc. ICPP 2013</a:t>
                </a:r>
              </a:p>
              <a:p>
                <a:r>
                  <a:rPr lang="en-US" sz="2400" dirty="0" smtClean="0"/>
                  <a:t>Distributed-memory parallelism and network analysis: Slota and Madduri, Proc. IPDPS 2014 (to appear)</a:t>
                </a:r>
                <a:endParaRPr lang="en-US" sz="2400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541" t="-1370" r="-22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Our new parallel approach: FASCIA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34478CD-BAEC-43D4-A9EC-3154A8921586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206222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Get approximate counts of tree-structured templates</a:t>
            </a:r>
          </a:p>
          <a:p>
            <a:r>
              <a:rPr lang="en-US" sz="2800" dirty="0" smtClean="0"/>
              <a:t>Determine network motifs</a:t>
            </a:r>
          </a:p>
          <a:p>
            <a:r>
              <a:rPr lang="en-US" sz="2800" dirty="0" smtClean="0"/>
              <a:t>Comparative network analysis using</a:t>
            </a:r>
          </a:p>
          <a:p>
            <a:pPr lvl="1"/>
            <a:r>
              <a:rPr lang="en-US" sz="2400" dirty="0" err="1" smtClean="0"/>
              <a:t>Graphlet</a:t>
            </a:r>
            <a:r>
              <a:rPr lang="en-US" sz="2400" dirty="0" smtClean="0"/>
              <a:t> frequency distances (GFD)</a:t>
            </a:r>
          </a:p>
          <a:p>
            <a:pPr lvl="1"/>
            <a:r>
              <a:rPr lang="en-US" sz="2400" dirty="0" err="1" smtClean="0"/>
              <a:t>Graphlet</a:t>
            </a:r>
            <a:r>
              <a:rPr lang="en-US" sz="2400" dirty="0" smtClean="0"/>
              <a:t> degree distributions (GDD)</a:t>
            </a:r>
          </a:p>
          <a:p>
            <a:pPr lvl="1"/>
            <a:r>
              <a:rPr lang="en-US" sz="2400" dirty="0" err="1" smtClean="0"/>
              <a:t>Graphlet</a:t>
            </a:r>
            <a:r>
              <a:rPr lang="en-US" sz="2400" dirty="0" smtClean="0"/>
              <a:t> degree signatures (GDS)</a:t>
            </a:r>
          </a:p>
          <a:p>
            <a:r>
              <a:rPr lang="en-US" sz="2800" dirty="0" smtClean="0"/>
              <a:t>Cluster networks into categories</a:t>
            </a:r>
          </a:p>
          <a:p>
            <a:r>
              <a:rPr lang="en-US" sz="2800" dirty="0" smtClean="0">
                <a:solidFill>
                  <a:srgbClr val="FF0000"/>
                </a:solidFill>
              </a:rPr>
              <a:t>New:</a:t>
            </a:r>
            <a:r>
              <a:rPr lang="en-US" sz="2800" dirty="0" smtClean="0"/>
              <a:t> simple modifications to find signaling pathways in protein interaction networks (PINs)</a:t>
            </a:r>
          </a:p>
          <a:p>
            <a:endParaRPr lang="en-US" sz="28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FASCIA features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34478CD-BAEC-43D4-A9EC-3154A8921586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7627314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The dynamic programming scheme and shared-memory parallelism</a:t>
            </a:r>
          </a:p>
          <a:p>
            <a:endParaRPr lang="en-US" sz="2800" dirty="0" smtClean="0"/>
          </a:p>
          <a:p>
            <a:r>
              <a:rPr lang="en-US" sz="2800" dirty="0" smtClean="0"/>
              <a:t>FASCIA and approximate counting for finding motifs in protein interaction networks</a:t>
            </a:r>
          </a:p>
          <a:p>
            <a:r>
              <a:rPr lang="en-US" sz="2800" dirty="0" smtClean="0"/>
              <a:t>Comparative network analysis</a:t>
            </a:r>
          </a:p>
          <a:p>
            <a:pPr marL="0" indent="0">
              <a:buNone/>
            </a:pPr>
            <a:endParaRPr lang="en-US" sz="2800" dirty="0" smtClean="0"/>
          </a:p>
          <a:p>
            <a:r>
              <a:rPr lang="en-US" sz="2800" dirty="0"/>
              <a:t>Parallel performance results</a:t>
            </a:r>
          </a:p>
          <a:p>
            <a:pPr marL="0" indent="0">
              <a:buNone/>
            </a:pPr>
            <a:endParaRPr lang="en-US" sz="2800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This talk: FASCIA applied to PIN analysis and </a:t>
            </a:r>
            <a:br>
              <a:rPr lang="en-US" sz="3200" dirty="0" smtClean="0"/>
            </a:br>
            <a:r>
              <a:rPr lang="en-US" sz="3200" dirty="0" smtClean="0"/>
              <a:t>comparative network analysis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34478CD-BAEC-43D4-A9EC-3154A8921586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2656524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Template </a:t>
                </a:r>
                <a:r>
                  <a:rPr lang="en-US" dirty="0" smtClean="0">
                    <a:solidFill>
                      <a:srgbClr val="0000FF"/>
                    </a:solidFill>
                  </a:rPr>
                  <a:t>partitioning</a:t>
                </a:r>
              </a:p>
              <a:p>
                <a:r>
                  <a:rPr lang="en-US" dirty="0" smtClean="0"/>
                  <a:t>Count number of </a:t>
                </a:r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  <a:r>
                  <a:rPr lang="en-US" dirty="0" smtClean="0"/>
                  <a:t>   </a:t>
                </a:r>
                <a:r>
                  <a:rPr lang="en-US" dirty="0" smtClean="0">
                    <a:solidFill>
                      <a:srgbClr val="0000FF"/>
                    </a:solidFill>
                  </a:rPr>
                  <a:t>colorful occurrences</a:t>
                </a:r>
              </a:p>
              <a:p>
                <a:pPr marL="0" indent="0">
                  <a:buNone/>
                </a:pPr>
                <a:r>
                  <a:rPr lang="en-US" dirty="0" smtClean="0"/>
                  <a:t>    of template</a:t>
                </a:r>
              </a:p>
              <a:p>
                <a:pPr lvl="1"/>
                <a:r>
                  <a:rPr lang="en-US" dirty="0"/>
                  <a:t>Memory-intensive </a:t>
                </a:r>
                <a:r>
                  <a:rPr lang="en-US" dirty="0" smtClean="0"/>
                  <a:t>step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 smtClean="0"/>
                  <a:t> work;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 smtClean="0"/>
                  <a:t> space requirements</a:t>
                </a:r>
                <a:endParaRPr lang="en-US" dirty="0"/>
              </a:p>
              <a:p>
                <a:pPr lvl="1"/>
                <a:r>
                  <a:rPr lang="en-US" dirty="0" smtClean="0"/>
                  <a:t>Optimizations, Parallelization of dynamic programming-based counting step</a:t>
                </a:r>
              </a:p>
              <a:p>
                <a:r>
                  <a:rPr lang="en-US" dirty="0" smtClean="0">
                    <a:solidFill>
                      <a:srgbClr val="0000FF"/>
                    </a:solidFill>
                  </a:rPr>
                  <a:t>Estimate</a:t>
                </a:r>
                <a:r>
                  <a:rPr lang="en-US" dirty="0" smtClean="0"/>
                  <a:t> the total number of occurrences</a:t>
                </a: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908" t="-1993" b="-5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FASCIA Algorithm and Parallelization Overview</a:t>
            </a:r>
            <a:endParaRPr lang="en-US" sz="32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4940" y="731871"/>
            <a:ext cx="4466185" cy="2852466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34478CD-BAEC-43D4-A9EC-3154A8921586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9015435"/>
      </p:ext>
    </p:extLst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err="1" smtClean="0"/>
              <a:t>Alon</a:t>
            </a:r>
            <a:r>
              <a:rPr lang="en-US" sz="2800" dirty="0" smtClean="0"/>
              <a:t> et al., 1995: approximate counting of tree-like non-induced </a:t>
            </a:r>
            <a:r>
              <a:rPr lang="en-US" sz="2800" dirty="0" err="1" smtClean="0"/>
              <a:t>subgraphs</a:t>
            </a:r>
            <a:endParaRPr lang="en-US" sz="28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Color-coding approximation strategy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34478CD-BAEC-43D4-A9EC-3154A8921586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798" y="2492749"/>
            <a:ext cx="3995889" cy="422237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997785" y="2171121"/>
            <a:ext cx="16514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00FF"/>
                </a:solidFill>
              </a:rPr>
              <a:t>Larger graph</a:t>
            </a:r>
            <a:endParaRPr lang="en-US" sz="2000" dirty="0">
              <a:solidFill>
                <a:srgbClr val="0000FF"/>
              </a:solidFill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658" y="2571231"/>
            <a:ext cx="2049788" cy="160169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04192" y="2171121"/>
            <a:ext cx="12254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00FF"/>
                </a:solidFill>
              </a:rPr>
              <a:t>Template</a:t>
            </a:r>
            <a:endParaRPr lang="en-US" sz="2000" dirty="0">
              <a:solidFill>
                <a:srgbClr val="0000FF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297858" y="4350774"/>
            <a:ext cx="8595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k =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2896" y="5395229"/>
            <a:ext cx="21675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  <a:r>
              <a:rPr lang="en-US" dirty="0" smtClean="0"/>
              <a:t> = 12, m = 15</a:t>
            </a:r>
          </a:p>
        </p:txBody>
      </p:sp>
    </p:spTree>
    <p:extLst>
      <p:ext uri="{BB962C8B-B14F-4D97-AF65-F5344CB8AC3E}">
        <p14:creationId xmlns:p14="http://schemas.microsoft.com/office/powerpoint/2010/main" val="1536601126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Color-coding approximation strategy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34478CD-BAEC-43D4-A9EC-3154A8921586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699926" y="2171121"/>
            <a:ext cx="4107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00FF"/>
                </a:solidFill>
              </a:rPr>
              <a:t>Randomly “color” vertices of graph</a:t>
            </a:r>
            <a:endParaRPr lang="en-US" sz="2000" dirty="0">
              <a:solidFill>
                <a:srgbClr val="0000FF"/>
              </a:solidFill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658" y="2571231"/>
            <a:ext cx="2049788" cy="160169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04192" y="2171121"/>
            <a:ext cx="12254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00FF"/>
                </a:solidFill>
              </a:rPr>
              <a:t>Template</a:t>
            </a:r>
            <a:endParaRPr lang="en-US" sz="2000" dirty="0">
              <a:solidFill>
                <a:srgbClr val="0000FF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297858" y="4350774"/>
            <a:ext cx="8595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k = 3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461" y="2746579"/>
            <a:ext cx="3699349" cy="3954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410669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Color-coding approximation strategy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34478CD-BAEC-43D4-A9EC-3154A8921586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529654" y="2285783"/>
            <a:ext cx="35221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00FF"/>
                </a:solidFill>
              </a:rPr>
              <a:t>Possible colorful </a:t>
            </a:r>
            <a:r>
              <a:rPr lang="en-US" sz="2000" dirty="0" err="1" smtClean="0">
                <a:solidFill>
                  <a:srgbClr val="0000FF"/>
                </a:solidFill>
              </a:rPr>
              <a:t>embeddings</a:t>
            </a:r>
            <a:endParaRPr lang="en-US" sz="2000" dirty="0">
              <a:solidFill>
                <a:srgbClr val="0000FF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590" y="2373402"/>
            <a:ext cx="3699349" cy="395474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476" y="2787081"/>
            <a:ext cx="3689166" cy="3935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311116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Color-coding approximation strategy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34478CD-BAEC-43D4-A9EC-3154A8921586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529654" y="2285783"/>
            <a:ext cx="35221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00FF"/>
                </a:solidFill>
              </a:rPr>
              <a:t>Possible colorful </a:t>
            </a:r>
            <a:r>
              <a:rPr lang="en-US" sz="2000" dirty="0" err="1" smtClean="0">
                <a:solidFill>
                  <a:srgbClr val="0000FF"/>
                </a:solidFill>
              </a:rPr>
              <a:t>embeddings</a:t>
            </a:r>
            <a:endParaRPr lang="en-US" sz="2000" dirty="0">
              <a:solidFill>
                <a:srgbClr val="0000FF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590" y="2373402"/>
            <a:ext cx="3699349" cy="395474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476" y="2787081"/>
            <a:ext cx="3689166" cy="393511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850357" y="1903627"/>
            <a:ext cx="33762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00FF"/>
                </a:solidFill>
              </a:rPr>
              <a:t>Identify colorful </a:t>
            </a:r>
            <a:r>
              <a:rPr lang="en-US" sz="2000" dirty="0" err="1" smtClean="0">
                <a:solidFill>
                  <a:srgbClr val="0000FF"/>
                </a:solidFill>
              </a:rPr>
              <a:t>embeddings</a:t>
            </a:r>
            <a:endParaRPr lang="en-US" sz="2000" dirty="0">
              <a:solidFill>
                <a:srgbClr val="0000FF"/>
              </a:solidFill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5043948" y="2485838"/>
            <a:ext cx="1961536" cy="1348743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48" charset="-128"/>
            </a:endParaRPr>
          </a:p>
        </p:txBody>
      </p:sp>
      <p:sp>
        <p:nvSpPr>
          <p:cNvPr id="9" name="Rectangle 8"/>
          <p:cNvSpPr/>
          <p:nvPr/>
        </p:nvSpPr>
        <p:spPr bwMode="auto">
          <a:xfrm rot="2112600">
            <a:off x="6075094" y="3728968"/>
            <a:ext cx="2704952" cy="858296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48" charset="-128"/>
            </a:endParaRPr>
          </a:p>
        </p:txBody>
      </p:sp>
      <p:sp>
        <p:nvSpPr>
          <p:cNvPr id="11" name="Rectangle 10"/>
          <p:cNvSpPr/>
          <p:nvPr/>
        </p:nvSpPr>
        <p:spPr bwMode="auto">
          <a:xfrm rot="7076312">
            <a:off x="5748346" y="4759133"/>
            <a:ext cx="2584274" cy="960537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4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50826770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/>
              <a:t>Cnt</a:t>
            </a:r>
            <a:r>
              <a:rPr lang="en-US" sz="2400" baseline="-25000" dirty="0" err="1" smtClean="0"/>
              <a:t>colorful</a:t>
            </a:r>
            <a:r>
              <a:rPr lang="en-US" sz="2400" baseline="30000" dirty="0"/>
              <a:t> </a:t>
            </a:r>
            <a:r>
              <a:rPr lang="en-US" sz="2400" dirty="0" smtClean="0"/>
              <a:t> = 3, Probability of colorful embedding = 3!/3</a:t>
            </a:r>
            <a:r>
              <a:rPr lang="en-US" sz="2400" baseline="30000" dirty="0" smtClean="0"/>
              <a:t>3</a:t>
            </a:r>
          </a:p>
          <a:p>
            <a:r>
              <a:rPr lang="en-US" sz="2400" dirty="0" smtClean="0"/>
              <a:t>Perform multiple (~ </a:t>
            </a:r>
            <a:r>
              <a:rPr lang="en-US" sz="2400" dirty="0" err="1" smtClean="0"/>
              <a:t>e</a:t>
            </a:r>
            <a:r>
              <a:rPr lang="en-US" sz="2400" baseline="30000" dirty="0" err="1" smtClean="0"/>
              <a:t>k</a:t>
            </a:r>
            <a:r>
              <a:rPr lang="en-US" sz="2400" dirty="0" smtClean="0"/>
              <a:t>) coloring iterations</a:t>
            </a:r>
          </a:p>
          <a:p>
            <a:r>
              <a:rPr lang="en-US" sz="2400" dirty="0" smtClean="0"/>
              <a:t>Each iteration requires O(m2</a:t>
            </a:r>
            <a:r>
              <a:rPr lang="en-US" sz="2400" baseline="30000" dirty="0" smtClean="0"/>
              <a:t>k</a:t>
            </a:r>
            <a:r>
              <a:rPr lang="en-US" sz="2400" dirty="0" smtClean="0"/>
              <a:t>) work</a:t>
            </a:r>
            <a:endParaRPr lang="en-US" sz="24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Color-coding approximation strategy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34478CD-BAEC-43D4-A9EC-3154A8921586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5646" y="3034928"/>
            <a:ext cx="4607859" cy="3455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486438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FASCIA Algorithm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34478CD-BAEC-43D4-A9EC-3154A8921586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3" y="1789877"/>
            <a:ext cx="6493184" cy="399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391841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Counting step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34478CD-BAEC-43D4-A9EC-3154A8921586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039" y="1271588"/>
            <a:ext cx="7561194" cy="489553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 bwMode="auto">
          <a:xfrm>
            <a:off x="447039" y="1843548"/>
            <a:ext cx="3535026" cy="176981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48" charset="-128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2153265" y="4660490"/>
            <a:ext cx="2566219" cy="265471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48" charset="-128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2630131" y="3972230"/>
            <a:ext cx="3873909" cy="351884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4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9711052"/>
      </p:ext>
    </p:extLst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803" y="4530333"/>
            <a:ext cx="8304213" cy="2314602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Test network families, example templates</a:t>
            </a:r>
            <a:endParaRPr lang="en-US" sz="32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34478CD-BAEC-43D4-A9EC-3154A8921586}" type="slidenum">
              <a:rPr lang="en-US" smtClean="0"/>
              <a:pPr/>
              <a:t>18</a:t>
            </a:fld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4790033"/>
              </p:ext>
            </p:extLst>
          </p:nvPr>
        </p:nvGraphicFramePr>
        <p:xfrm>
          <a:off x="285676" y="779304"/>
          <a:ext cx="6850231" cy="3859759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2441947"/>
                <a:gridCol w="1895350"/>
                <a:gridCol w="2512934"/>
              </a:tblGrid>
              <a:tr h="659359">
                <a:tc>
                  <a:txBody>
                    <a:bodyPr/>
                    <a:lstStyle/>
                    <a:p>
                      <a:r>
                        <a:rPr lang="en-US" dirty="0" smtClean="0"/>
                        <a:t>Network 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# of networks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# of edges</a:t>
                      </a:r>
                      <a:r>
                        <a:rPr lang="en-US" baseline="0" dirty="0" smtClean="0"/>
                        <a:t> in </a:t>
                      </a:r>
                      <a:r>
                        <a:rPr lang="en-US" dirty="0" smtClean="0"/>
                        <a:t>largest network</a:t>
                      </a:r>
                      <a:endParaRPr lang="en-US" dirty="0"/>
                    </a:p>
                  </a:txBody>
                  <a:tcPr/>
                </a:tc>
              </a:tr>
              <a:tr h="343752">
                <a:tc>
                  <a:txBody>
                    <a:bodyPr/>
                    <a:lstStyle/>
                    <a:p>
                      <a:r>
                        <a:rPr lang="en-US" dirty="0" smtClean="0"/>
                        <a:t>PINs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22</a:t>
                      </a:r>
                      <a:r>
                        <a:rPr lang="en-US" baseline="0" dirty="0" smtClean="0"/>
                        <a:t> K</a:t>
                      </a:r>
                      <a:endParaRPr lang="en-US" dirty="0"/>
                    </a:p>
                  </a:txBody>
                  <a:tcPr/>
                </a:tc>
              </a:tr>
              <a:tr h="343752">
                <a:tc>
                  <a:txBody>
                    <a:bodyPr/>
                    <a:lstStyle/>
                    <a:p>
                      <a:r>
                        <a:rPr lang="en-US" dirty="0" smtClean="0"/>
                        <a:t>Web crawls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3.9 M</a:t>
                      </a:r>
                      <a:endParaRPr lang="en-US" dirty="0"/>
                    </a:p>
                  </a:txBody>
                  <a:tcPr/>
                </a:tc>
              </a:tr>
              <a:tr h="343752">
                <a:tc>
                  <a:txBody>
                    <a:bodyPr/>
                    <a:lstStyle/>
                    <a:p>
                      <a:r>
                        <a:rPr lang="en-US" dirty="0" smtClean="0"/>
                        <a:t>Social networks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5.4 M</a:t>
                      </a:r>
                      <a:endParaRPr lang="en-US" dirty="0"/>
                    </a:p>
                  </a:txBody>
                  <a:tcPr/>
                </a:tc>
              </a:tr>
              <a:tr h="343752">
                <a:tc>
                  <a:txBody>
                    <a:bodyPr/>
                    <a:lstStyle/>
                    <a:p>
                      <a:r>
                        <a:rPr lang="en-US" dirty="0" smtClean="0"/>
                        <a:t>Road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2.8</a:t>
                      </a:r>
                      <a:r>
                        <a:rPr lang="en-US" baseline="0" dirty="0" smtClean="0"/>
                        <a:t> M</a:t>
                      </a:r>
                      <a:endParaRPr lang="en-US" dirty="0"/>
                    </a:p>
                  </a:txBody>
                  <a:tcPr/>
                </a:tc>
              </a:tr>
              <a:tr h="343752">
                <a:tc>
                  <a:txBody>
                    <a:bodyPr/>
                    <a:lstStyle/>
                    <a:p>
                      <a:r>
                        <a:rPr lang="en-US" dirty="0" smtClean="0"/>
                        <a:t>Collaboration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1.05 M</a:t>
                      </a:r>
                      <a:endParaRPr lang="en-US" dirty="0"/>
                    </a:p>
                  </a:txBody>
                  <a:tcPr/>
                </a:tc>
              </a:tr>
              <a:tr h="34375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43752">
                <a:tc>
                  <a:txBody>
                    <a:bodyPr/>
                    <a:lstStyle/>
                    <a:p>
                      <a:r>
                        <a:rPr lang="en-US" dirty="0" smtClean="0"/>
                        <a:t>Large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soc.</a:t>
                      </a:r>
                      <a:r>
                        <a:rPr lang="en-US" baseline="0" dirty="0" smtClean="0"/>
                        <a:t> net (Orkut)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117 M</a:t>
                      </a:r>
                      <a:endParaRPr lang="en-US" dirty="0"/>
                    </a:p>
                  </a:txBody>
                  <a:tcPr/>
                </a:tc>
              </a:tr>
              <a:tr h="601566">
                <a:tc>
                  <a:txBody>
                    <a:bodyPr/>
                    <a:lstStyle/>
                    <a:p>
                      <a:r>
                        <a:rPr lang="en-US" dirty="0" smtClean="0"/>
                        <a:t>Large synth. urban pop.</a:t>
                      </a:r>
                      <a:r>
                        <a:rPr lang="en-US" baseline="0" dirty="0" smtClean="0"/>
                        <a:t> (Portland!)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31 M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5706484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40" y="1102401"/>
            <a:ext cx="7261332" cy="5195887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47040" y="255194"/>
            <a:ext cx="8310880" cy="838200"/>
          </a:xfrm>
        </p:spPr>
        <p:txBody>
          <a:bodyPr/>
          <a:lstStyle/>
          <a:p>
            <a:r>
              <a:rPr lang="en-US" dirty="0" smtClean="0"/>
              <a:t>Motifs: frequently-occurring  </a:t>
            </a:r>
            <a:r>
              <a:rPr lang="en-US" dirty="0" err="1" smtClean="0"/>
              <a:t>subgraphs</a:t>
            </a:r>
            <a:r>
              <a:rPr lang="en-US" dirty="0" smtClean="0"/>
              <a:t> of certain size and structure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34478CD-BAEC-43D4-A9EC-3154A8921586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361066" y="5294076"/>
            <a:ext cx="1186543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 smtClean="0"/>
              <a:t>C. </a:t>
            </a:r>
            <a:r>
              <a:rPr lang="en-US" sz="1600" dirty="0" err="1" smtClean="0"/>
              <a:t>Elegans</a:t>
            </a:r>
            <a:endParaRPr lang="en-US" sz="1600" dirty="0"/>
          </a:p>
        </p:txBody>
      </p:sp>
      <p:sp>
        <p:nvSpPr>
          <p:cNvPr id="6" name="TextBox 5"/>
          <p:cNvSpPr txBox="1"/>
          <p:nvPr/>
        </p:nvSpPr>
        <p:spPr>
          <a:xfrm>
            <a:off x="7407639" y="3531068"/>
            <a:ext cx="787395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 smtClean="0"/>
              <a:t>E. Coli</a:t>
            </a:r>
            <a:endParaRPr lang="en-US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7425129" y="3848358"/>
            <a:ext cx="1402948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 smtClean="0"/>
              <a:t>S. </a:t>
            </a:r>
            <a:r>
              <a:rPr lang="en-US" sz="1600" dirty="0" err="1" smtClean="0"/>
              <a:t>Cerevisiae</a:t>
            </a:r>
            <a:endParaRPr lang="en-US" sz="1600" dirty="0"/>
          </a:p>
        </p:txBody>
      </p:sp>
      <p:sp>
        <p:nvSpPr>
          <p:cNvPr id="8" name="TextBox 7"/>
          <p:cNvSpPr txBox="1"/>
          <p:nvPr/>
        </p:nvSpPr>
        <p:spPr>
          <a:xfrm>
            <a:off x="7427629" y="4120678"/>
            <a:ext cx="958917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 smtClean="0"/>
              <a:t>H. Pylori</a:t>
            </a:r>
            <a:endParaRPr lang="en-US" sz="1600" dirty="0"/>
          </a:p>
        </p:txBody>
      </p:sp>
      <p:sp>
        <p:nvSpPr>
          <p:cNvPr id="9" name="Rectangle 8"/>
          <p:cNvSpPr/>
          <p:nvPr/>
        </p:nvSpPr>
        <p:spPr bwMode="auto">
          <a:xfrm>
            <a:off x="2428407" y="1334125"/>
            <a:ext cx="4017363" cy="59960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48" charset="-128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530" y="5800813"/>
            <a:ext cx="6601981" cy="658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213663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188" y="1325130"/>
            <a:ext cx="7520923" cy="5389995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Error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34478CD-BAEC-43D4-A9EC-3154A8921586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01445" y="1035604"/>
            <a:ext cx="35605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H. Pylori, </a:t>
            </a:r>
            <a:r>
              <a:rPr lang="en-US" sz="2000" dirty="0" err="1" smtClean="0"/>
              <a:t>Subgraphs</a:t>
            </a:r>
            <a:r>
              <a:rPr lang="en-US" sz="2000" dirty="0" smtClean="0"/>
              <a:t> of size 7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82053775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188" y="1325130"/>
            <a:ext cx="7520923" cy="5389995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Error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34478CD-BAEC-43D4-A9EC-3154A8921586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01445" y="1035604"/>
            <a:ext cx="35605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H. Pylori, </a:t>
            </a:r>
            <a:r>
              <a:rPr lang="en-US" sz="2000" dirty="0" err="1" smtClean="0"/>
              <a:t>Subgraphs</a:t>
            </a:r>
            <a:r>
              <a:rPr lang="en-US" sz="2000" dirty="0" smtClean="0"/>
              <a:t> of size 7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15944512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Error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34478CD-BAEC-43D4-A9EC-3154A8921586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01445" y="1035604"/>
            <a:ext cx="25218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Enron email network</a:t>
            </a:r>
            <a:endParaRPr lang="en-US" sz="20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444" y="1432870"/>
            <a:ext cx="6901559" cy="4946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771787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090" y="1228859"/>
            <a:ext cx="3512426" cy="2479858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Graphlet</a:t>
            </a:r>
            <a:r>
              <a:rPr lang="en-US" dirty="0" smtClean="0"/>
              <a:t> degree distributions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8761" y="1228859"/>
            <a:ext cx="3808260" cy="253150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090" y="4147207"/>
            <a:ext cx="3615072" cy="256791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2479" y="4203298"/>
            <a:ext cx="3594541" cy="253732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094516" y="865107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/>
              <a:t>Enron</a:t>
            </a:r>
            <a:endParaRPr lang="en-US" sz="1800" dirty="0"/>
          </a:p>
        </p:txBody>
      </p:sp>
      <p:sp>
        <p:nvSpPr>
          <p:cNvPr id="10" name="TextBox 9"/>
          <p:cNvSpPr txBox="1"/>
          <p:nvPr/>
        </p:nvSpPr>
        <p:spPr>
          <a:xfrm>
            <a:off x="6144358" y="905206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/>
              <a:t>Portland</a:t>
            </a:r>
            <a:endParaRPr lang="en-US" sz="1800" dirty="0"/>
          </a:p>
        </p:txBody>
      </p:sp>
      <p:sp>
        <p:nvSpPr>
          <p:cNvPr id="11" name="TextBox 10"/>
          <p:cNvSpPr txBox="1"/>
          <p:nvPr/>
        </p:nvSpPr>
        <p:spPr>
          <a:xfrm>
            <a:off x="1972687" y="3833966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/>
              <a:t>Slashdot</a:t>
            </a:r>
            <a:endParaRPr lang="en-US" sz="1800" dirty="0"/>
          </a:p>
        </p:txBody>
      </p:sp>
      <p:sp>
        <p:nvSpPr>
          <p:cNvPr id="12" name="TextBox 11"/>
          <p:cNvSpPr txBox="1"/>
          <p:nvPr/>
        </p:nvSpPr>
        <p:spPr>
          <a:xfrm>
            <a:off x="5823757" y="3833966"/>
            <a:ext cx="1685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/>
              <a:t>G(</a:t>
            </a:r>
            <a:r>
              <a:rPr lang="en-US" sz="1800" dirty="0" err="1" smtClean="0"/>
              <a:t>n,p</a:t>
            </a:r>
            <a:r>
              <a:rPr lang="en-US" sz="1800" dirty="0" smtClean="0"/>
              <a:t>) random</a:t>
            </a:r>
            <a:endParaRPr lang="en-US" sz="1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34478CD-BAEC-43D4-A9EC-3154A8921586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275111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879" y="737418"/>
            <a:ext cx="5724763" cy="6297241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err="1" smtClean="0"/>
              <a:t>Graphlet</a:t>
            </a:r>
            <a:r>
              <a:rPr lang="en-US" sz="2800" dirty="0" smtClean="0"/>
              <a:t> frequency distribution agreement scores </a:t>
            </a:r>
            <a:r>
              <a:rPr lang="en-US" sz="2800" dirty="0" err="1" smtClean="0"/>
              <a:t>heatmap</a:t>
            </a:r>
            <a:endParaRPr lang="en-US" sz="2800" dirty="0"/>
          </a:p>
        </p:txBody>
      </p:sp>
      <p:sp>
        <p:nvSpPr>
          <p:cNvPr id="2" name="Right Brace 1"/>
          <p:cNvSpPr/>
          <p:nvPr/>
        </p:nvSpPr>
        <p:spPr bwMode="auto">
          <a:xfrm>
            <a:off x="6002595" y="2964426"/>
            <a:ext cx="162232" cy="486697"/>
          </a:xfrm>
          <a:prstGeom prst="rightBrac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48" charset="-128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164827" y="3038497"/>
            <a:ext cx="15520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Road networks</a:t>
            </a:r>
            <a:endParaRPr lang="en-US" sz="1600" dirty="0"/>
          </a:p>
        </p:txBody>
      </p:sp>
      <p:sp>
        <p:nvSpPr>
          <p:cNvPr id="7" name="Right Brace 6"/>
          <p:cNvSpPr/>
          <p:nvPr/>
        </p:nvSpPr>
        <p:spPr bwMode="auto">
          <a:xfrm>
            <a:off x="6022260" y="3942741"/>
            <a:ext cx="157315" cy="806240"/>
          </a:xfrm>
          <a:prstGeom prst="rightBrac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48" charset="-128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169744" y="4179042"/>
            <a:ext cx="5709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P2P</a:t>
            </a:r>
            <a:endParaRPr lang="en-US" sz="1600" dirty="0"/>
          </a:p>
        </p:txBody>
      </p:sp>
      <p:sp>
        <p:nvSpPr>
          <p:cNvPr id="9" name="Right Brace 8"/>
          <p:cNvSpPr/>
          <p:nvPr/>
        </p:nvSpPr>
        <p:spPr bwMode="auto">
          <a:xfrm>
            <a:off x="6164827" y="5220929"/>
            <a:ext cx="264815" cy="1032387"/>
          </a:xfrm>
          <a:prstGeom prst="rightBrac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48" charset="-128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55239" y="5483740"/>
            <a:ext cx="14478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Collaboration </a:t>
            </a:r>
          </a:p>
          <a:p>
            <a:r>
              <a:rPr lang="en-US" sz="1600" dirty="0" smtClean="0"/>
              <a:t>networks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34478CD-BAEC-43D4-A9EC-3154A8921586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11" name="Right Brace 10"/>
          <p:cNvSpPr/>
          <p:nvPr/>
        </p:nvSpPr>
        <p:spPr bwMode="auto">
          <a:xfrm>
            <a:off x="6041599" y="3520285"/>
            <a:ext cx="108482" cy="358540"/>
          </a:xfrm>
          <a:prstGeom prst="rightBrac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48" charset="-128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04158" y="3520278"/>
            <a:ext cx="6286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PINs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674156939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009" y="834605"/>
            <a:ext cx="5880520" cy="5880520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similar are PINs to each other?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34478CD-BAEC-43D4-A9EC-3154A8921586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549620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40" y="1584250"/>
            <a:ext cx="6813802" cy="4883225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Execution times for various template sizes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34478CD-BAEC-43D4-A9EC-3154A8921586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20782" y="882283"/>
            <a:ext cx="72766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Portland network (31M edges)</a:t>
            </a:r>
          </a:p>
          <a:p>
            <a:r>
              <a:rPr lang="en-US" sz="2000" dirty="0" smtClean="0"/>
              <a:t>Single node performance (Intel Sandy Bridge server, 16 cores)</a:t>
            </a:r>
          </a:p>
        </p:txBody>
      </p:sp>
    </p:spTree>
    <p:extLst>
      <p:ext uri="{BB962C8B-B14F-4D97-AF65-F5344CB8AC3E}">
        <p14:creationId xmlns:p14="http://schemas.microsoft.com/office/powerpoint/2010/main" val="1919148514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39" y="1898082"/>
            <a:ext cx="7567245" cy="4414227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Shared-memory strong scaling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34478CD-BAEC-43D4-A9EC-3154A8921586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20782" y="882283"/>
            <a:ext cx="727660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Portland network (31M edges), U12-2 template</a:t>
            </a:r>
          </a:p>
          <a:p>
            <a:r>
              <a:rPr lang="en-US" sz="2000" dirty="0" smtClean="0"/>
              <a:t>Single node performance (Intel Sandy Bridge server, 16 cores)</a:t>
            </a:r>
          </a:p>
          <a:p>
            <a:r>
              <a:rPr lang="en-US" sz="2000" dirty="0" smtClean="0"/>
              <a:t>1 color-coding iteration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89249" y="4822723"/>
            <a:ext cx="2183226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11.8x speedup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625950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Multi-node strong scaling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34478CD-BAEC-43D4-A9EC-3154A8921586}" type="slidenum">
              <a:rPr lang="en-US" smtClean="0"/>
              <a:pPr/>
              <a:t>28</a:t>
            </a:fld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40" y="1340594"/>
            <a:ext cx="7768001" cy="5126881"/>
          </a:xfrm>
        </p:spPr>
      </p:pic>
      <p:sp>
        <p:nvSpPr>
          <p:cNvPr id="8" name="TextBox 7"/>
          <p:cNvSpPr txBox="1"/>
          <p:nvPr/>
        </p:nvSpPr>
        <p:spPr>
          <a:xfrm>
            <a:off x="520782" y="882283"/>
            <a:ext cx="687720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Orkut network (117M edges)</a:t>
            </a:r>
          </a:p>
          <a:p>
            <a:r>
              <a:rPr lang="en-US" sz="2000" dirty="0" smtClean="0"/>
              <a:t>Performance on an Intel Sandy Bridge cluster (1-15 nodes)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3389" y="4439265"/>
            <a:ext cx="2034531" cy="83099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6.8x speedup</a:t>
            </a:r>
          </a:p>
          <a:p>
            <a:r>
              <a:rPr lang="en-US" dirty="0"/>
              <a:t>f</a:t>
            </a:r>
            <a:r>
              <a:rPr lang="en-US" dirty="0" smtClean="0"/>
              <a:t>or U12-2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4953052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Multi-node strong scaling (communication time)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34478CD-BAEC-43D4-A9EC-3154A8921586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20782" y="882283"/>
            <a:ext cx="687720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Orkut network (117M edges)</a:t>
            </a:r>
          </a:p>
          <a:p>
            <a:r>
              <a:rPr lang="en-US" sz="2000" dirty="0"/>
              <a:t>Performance on an Intel Sandy Bridge cluster (1-15 nodes)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782" y="1520055"/>
            <a:ext cx="7328030" cy="4836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33763" y="1894634"/>
            <a:ext cx="2230098" cy="132343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000" dirty="0" smtClean="0"/>
              <a:t>No scaling:</a:t>
            </a:r>
          </a:p>
          <a:p>
            <a:r>
              <a:rPr lang="en-US" sz="2000" dirty="0" err="1" smtClean="0"/>
              <a:t>Comm</a:t>
            </a:r>
            <a:r>
              <a:rPr lang="en-US" sz="2000" dirty="0" smtClean="0"/>
              <a:t> Volume </a:t>
            </a:r>
          </a:p>
          <a:p>
            <a:r>
              <a:rPr lang="en-US" sz="2000" dirty="0" smtClean="0"/>
              <a:t>proportional </a:t>
            </a:r>
          </a:p>
          <a:p>
            <a:r>
              <a:rPr lang="en-US" sz="2000" dirty="0" smtClean="0"/>
              <a:t>to # of MPI tasks!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05343708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FASCIA: Color-coding parallel implementation applied to count </a:t>
            </a:r>
            <a:r>
              <a:rPr lang="en-US" sz="2800" dirty="0" err="1" smtClean="0"/>
              <a:t>subgraphs</a:t>
            </a:r>
            <a:endParaRPr lang="en-US" sz="2800" dirty="0" smtClean="0"/>
          </a:p>
          <a:p>
            <a:r>
              <a:rPr lang="en-US" sz="2800" dirty="0" smtClean="0"/>
              <a:t>Current work: </a:t>
            </a:r>
            <a:r>
              <a:rPr lang="en-US" sz="2800" dirty="0" err="1" smtClean="0"/>
              <a:t>FastPath</a:t>
            </a:r>
            <a:r>
              <a:rPr lang="en-US" sz="2800" dirty="0" smtClean="0"/>
              <a:t>, color-coding applied to enumerate simple short paths</a:t>
            </a:r>
          </a:p>
          <a:p>
            <a:r>
              <a:rPr lang="en-US" sz="2800" dirty="0" smtClean="0"/>
              <a:t>FASCIA performance optimization</a:t>
            </a:r>
            <a:endParaRPr lang="en-US" sz="2800" dirty="0"/>
          </a:p>
          <a:p>
            <a:pPr lvl="1"/>
            <a:r>
              <a:rPr lang="en-US" sz="2000" dirty="0" smtClean="0"/>
              <a:t>Graph coarsening </a:t>
            </a:r>
          </a:p>
          <a:p>
            <a:pPr lvl="1"/>
            <a:r>
              <a:rPr lang="en-US" sz="2000" dirty="0" smtClean="0"/>
              <a:t>Reduce memory utilization</a:t>
            </a:r>
          </a:p>
          <a:p>
            <a:pPr lvl="1"/>
            <a:r>
              <a:rPr lang="en-US" sz="2000" dirty="0" smtClean="0"/>
              <a:t>Fix the (computation) load imbalance at high concurrencies with better graph partitioning</a:t>
            </a:r>
          </a:p>
          <a:p>
            <a:pPr lvl="1"/>
            <a:r>
              <a:rPr lang="en-US" sz="2000" dirty="0" smtClean="0"/>
              <a:t>Hide inter-node communication, non-blocking collectives</a:t>
            </a:r>
            <a:endParaRPr lang="en-US" sz="2000" dirty="0"/>
          </a:p>
          <a:p>
            <a:r>
              <a:rPr lang="en-US" sz="2800" dirty="0" smtClean="0"/>
              <a:t>Source code: Will be up at </a:t>
            </a:r>
            <a:r>
              <a:rPr lang="en-US" sz="2400" dirty="0" smtClean="0">
                <a:solidFill>
                  <a:srgbClr val="0000FF"/>
                </a:solidFill>
              </a:rPr>
              <a:t>fascia-psu.sourceforge.net</a:t>
            </a:r>
            <a:endParaRPr lang="en-US" sz="2800" dirty="0" smtClean="0">
              <a:solidFill>
                <a:srgbClr val="0000FF"/>
              </a:solidFill>
            </a:endParaRPr>
          </a:p>
          <a:p>
            <a:pPr lvl="1"/>
            <a:r>
              <a:rPr lang="en-US" sz="2000" dirty="0" smtClean="0"/>
              <a:t>Immediate access: contact me or George Slota (gms5016@psu.edu)</a:t>
            </a:r>
            <a:endParaRPr lang="en-US" sz="20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FASCIA Summary and Current Work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34478CD-BAEC-43D4-A9EC-3154A8921586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495071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Questions?</a:t>
            </a:r>
          </a:p>
          <a:p>
            <a:endParaRPr lang="en-US" dirty="0"/>
          </a:p>
          <a:p>
            <a:r>
              <a:rPr lang="en-US" dirty="0" smtClean="0">
                <a:hlinkClick r:id="rId2"/>
              </a:rPr>
              <a:t>madduri@cse.psu.edu</a:t>
            </a:r>
            <a:endParaRPr lang="en-US" dirty="0"/>
          </a:p>
          <a:p>
            <a:r>
              <a:rPr lang="en-US" dirty="0" smtClean="0">
                <a:hlinkClick r:id="rId3"/>
              </a:rPr>
              <a:t>http://www.cse.psu.edu/~madduri</a:t>
            </a:r>
            <a:endParaRPr lang="en-US" dirty="0" smtClean="0"/>
          </a:p>
          <a:p>
            <a:endParaRPr lang="en-US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Thank you!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733721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Backup slides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34478CD-BAEC-43D4-A9EC-3154A8921586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15427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Subgraph</a:t>
            </a:r>
            <a:r>
              <a:rPr lang="en-US" dirty="0" smtClean="0"/>
              <a:t> counting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34478CD-BAEC-43D4-A9EC-3154A8921586}" type="slidenum">
              <a:rPr lang="en-US" smtClean="0"/>
              <a:pPr/>
              <a:t>33</a:t>
            </a:fld>
            <a:endParaRPr lang="en-US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81" y="1271588"/>
            <a:ext cx="6527800" cy="4895850"/>
          </a:xfrm>
        </p:spPr>
      </p:pic>
    </p:spTree>
    <p:extLst>
      <p:ext uri="{BB962C8B-B14F-4D97-AF65-F5344CB8AC3E}">
        <p14:creationId xmlns:p14="http://schemas.microsoft.com/office/powerpoint/2010/main" val="547563907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81" y="1271588"/>
            <a:ext cx="6527800" cy="4895850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Subgraph</a:t>
            </a:r>
            <a:r>
              <a:rPr lang="en-US" dirty="0" smtClean="0"/>
              <a:t> counting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34478CD-BAEC-43D4-A9EC-3154A8921586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7307257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81" y="1271588"/>
            <a:ext cx="6527800" cy="4895850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Subgraph</a:t>
            </a:r>
            <a:r>
              <a:rPr lang="en-US" dirty="0" smtClean="0"/>
              <a:t> counting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34478CD-BAEC-43D4-A9EC-3154A8921586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2921243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81" y="1271588"/>
            <a:ext cx="6527800" cy="4895850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Subgraph</a:t>
            </a:r>
            <a:r>
              <a:rPr lang="en-US" dirty="0" smtClean="0"/>
              <a:t> counting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34478CD-BAEC-43D4-A9EC-3154A8921586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5162573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675" y="1441786"/>
            <a:ext cx="8304213" cy="4555453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Subgraph</a:t>
            </a:r>
            <a:r>
              <a:rPr lang="en-US" dirty="0" smtClean="0"/>
              <a:t> enumeration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34478CD-BAEC-43D4-A9EC-3154A8921586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1572104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Subgraph</a:t>
            </a:r>
            <a:r>
              <a:rPr lang="en-US" dirty="0" smtClean="0"/>
              <a:t> enumeration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34478CD-BAEC-43D4-A9EC-3154A8921586}" type="slidenum">
              <a:rPr lang="en-US" smtClean="0"/>
              <a:pPr/>
              <a:t>38</a:t>
            </a:fld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675" y="1441786"/>
            <a:ext cx="8304213" cy="4555453"/>
          </a:xfrm>
        </p:spPr>
      </p:pic>
    </p:spTree>
    <p:extLst>
      <p:ext uri="{BB962C8B-B14F-4D97-AF65-F5344CB8AC3E}">
        <p14:creationId xmlns:p14="http://schemas.microsoft.com/office/powerpoint/2010/main" val="2558196670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675" y="1441786"/>
            <a:ext cx="8304213" cy="4555454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Subgraph</a:t>
            </a:r>
            <a:r>
              <a:rPr lang="en-US" dirty="0" smtClean="0"/>
              <a:t> enumeration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34478CD-BAEC-43D4-A9EC-3154A8921586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9017975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675" y="1441786"/>
            <a:ext cx="8304213" cy="4555454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Subgraph</a:t>
            </a:r>
            <a:r>
              <a:rPr lang="en-US" dirty="0" smtClean="0"/>
              <a:t> enumeration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34478CD-BAEC-43D4-A9EC-3154A8921586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639107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587" y="1828887"/>
            <a:ext cx="9002413" cy="3759660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Induced vs. Non-induced </a:t>
            </a:r>
            <a:r>
              <a:rPr lang="en-US" dirty="0" err="1"/>
              <a:t>s</a:t>
            </a:r>
            <a:r>
              <a:rPr lang="en-US" dirty="0" err="1" smtClean="0"/>
              <a:t>ubgraphs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 bwMode="auto">
          <a:xfrm>
            <a:off x="6190938" y="1618938"/>
            <a:ext cx="2810187" cy="185878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48" charset="-128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2131101" y="3462442"/>
            <a:ext cx="5079168" cy="243820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48" charset="-128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34478CD-BAEC-43D4-A9EC-3154A8921586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1114510"/>
      </p:ext>
    </p:extLst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Important </a:t>
            </a:r>
            <a:r>
              <a:rPr lang="en-US" sz="2800" dirty="0" smtClean="0"/>
              <a:t>in </a:t>
            </a:r>
            <a:r>
              <a:rPr lang="en-US" sz="2800" dirty="0"/>
              <a:t>bioinformatics, </a:t>
            </a:r>
            <a:r>
              <a:rPr lang="en-US" sz="2800" dirty="0" err="1"/>
              <a:t>chemoinformatics</a:t>
            </a:r>
            <a:r>
              <a:rPr lang="en-US" sz="2800" dirty="0"/>
              <a:t>, </a:t>
            </a:r>
            <a:r>
              <a:rPr lang="en-US" sz="2800" dirty="0" smtClean="0"/>
              <a:t>social network </a:t>
            </a:r>
            <a:r>
              <a:rPr lang="en-US" sz="2800" dirty="0"/>
              <a:t>analysis, communication network analysis, etc.</a:t>
            </a:r>
          </a:p>
          <a:p>
            <a:r>
              <a:rPr lang="en-US" sz="2800" dirty="0"/>
              <a:t>Forms basis of more complex analysis</a:t>
            </a:r>
          </a:p>
          <a:p>
            <a:pPr lvl="1"/>
            <a:r>
              <a:rPr lang="en-US" sz="2400" dirty="0"/>
              <a:t>Motif </a:t>
            </a:r>
            <a:r>
              <a:rPr lang="en-US" sz="2400" dirty="0" smtClean="0"/>
              <a:t>finding</a:t>
            </a:r>
            <a:endParaRPr lang="en-US" sz="2400" dirty="0"/>
          </a:p>
          <a:p>
            <a:pPr lvl="1"/>
            <a:r>
              <a:rPr lang="en-US" sz="2400" dirty="0" err="1"/>
              <a:t>Graphlet</a:t>
            </a:r>
            <a:r>
              <a:rPr lang="en-US" sz="2400" dirty="0"/>
              <a:t> frequency distance (GFD)</a:t>
            </a:r>
          </a:p>
          <a:p>
            <a:pPr lvl="1"/>
            <a:r>
              <a:rPr lang="en-US" sz="2400" dirty="0" err="1"/>
              <a:t>Graphlet</a:t>
            </a:r>
            <a:r>
              <a:rPr lang="en-US" sz="2400" dirty="0"/>
              <a:t> degree distributions (GDD)</a:t>
            </a:r>
          </a:p>
          <a:p>
            <a:pPr lvl="1"/>
            <a:r>
              <a:rPr lang="en-US" sz="2400" dirty="0" err="1"/>
              <a:t>Graphlet</a:t>
            </a:r>
            <a:r>
              <a:rPr lang="en-US" sz="2400" dirty="0"/>
              <a:t> degree signatures (GDS)</a:t>
            </a:r>
          </a:p>
          <a:p>
            <a:r>
              <a:rPr lang="en-US" sz="2800" dirty="0" smtClean="0"/>
              <a:t>Exact counting </a:t>
            </a:r>
            <a:r>
              <a:rPr lang="en-US" sz="2800" dirty="0"/>
              <a:t>and enumeration on large networks is </a:t>
            </a:r>
            <a:r>
              <a:rPr lang="en-US" sz="2800" dirty="0" smtClean="0"/>
              <a:t>very compute-intensive, O(</a:t>
            </a:r>
            <a:r>
              <a:rPr lang="en-US" sz="2800" dirty="0" err="1" smtClean="0"/>
              <a:t>n</a:t>
            </a:r>
            <a:r>
              <a:rPr lang="en-US" sz="2800" baseline="30000" dirty="0" err="1" smtClean="0"/>
              <a:t>k</a:t>
            </a:r>
            <a:r>
              <a:rPr lang="en-US" sz="2800" dirty="0" smtClean="0"/>
              <a:t>) work complexity </a:t>
            </a:r>
            <a:r>
              <a:rPr lang="en-US" sz="2800" dirty="0"/>
              <a:t>for </a:t>
            </a:r>
            <a:r>
              <a:rPr lang="en-US" sz="2800" dirty="0" smtClean="0"/>
              <a:t>naïve algorithm</a:t>
            </a:r>
            <a:endParaRPr lang="en-US" sz="28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Motivation: Why fast algorithms for </a:t>
            </a:r>
            <a:r>
              <a:rPr lang="en-US" dirty="0" err="1" smtClean="0"/>
              <a:t>subgraph</a:t>
            </a:r>
            <a:r>
              <a:rPr lang="en-US" dirty="0" smtClean="0"/>
              <a:t> counting?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34478CD-BAEC-43D4-A9EC-3154A8921586}" type="slidenum">
              <a:rPr lang="en-US" smtClean="0"/>
              <a:pPr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3101904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39" y="1271588"/>
            <a:ext cx="6831106" cy="5123330"/>
          </a:xfrm>
          <a:prstGeom prst="rect">
            <a:avLst/>
          </a:prstGeom>
        </p:spPr>
      </p:pic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Numerically compare occurrence frequency to other networks 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GFD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34478CD-BAEC-43D4-A9EC-3154A8921586}" type="slidenum">
              <a:rPr lang="en-US" smtClean="0"/>
              <a:pPr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041816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ank Presentatio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lank Presentation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48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48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64083</TotalTime>
  <Words>796</Words>
  <Application>Microsoft Office PowerPoint</Application>
  <PresentationFormat>On-screen Show (4:3)</PresentationFormat>
  <Paragraphs>237</Paragraphs>
  <Slides>43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9" baseType="lpstr">
      <vt:lpstr>ＭＳ Ｐゴシック</vt:lpstr>
      <vt:lpstr>Arial</vt:lpstr>
      <vt:lpstr>Calibri</vt:lpstr>
      <vt:lpstr>Cambria Math</vt:lpstr>
      <vt:lpstr>Wingdings</vt:lpstr>
      <vt:lpstr>Blank Presentation</vt:lpstr>
      <vt:lpstr>Characterizing Biological Networks Using Subgraph Counting and Enumeration</vt:lpstr>
      <vt:lpstr># of speakers mentioning BFS</vt:lpstr>
      <vt:lpstr>Acknowledgments</vt:lpstr>
      <vt:lpstr>PowerPoint Presentation</vt:lpstr>
      <vt:lpstr>SIAM PP06</vt:lpstr>
      <vt:lpstr>Network motifs in protein interaction networks (PINs) and gene-disease networks</vt:lpstr>
      <vt:lpstr>Our new parallel approach: FASCIA</vt:lpstr>
      <vt:lpstr>FASCIA features</vt:lpstr>
      <vt:lpstr>This talk: FASCIA applied to PIN analysis and  comparative network analysis</vt:lpstr>
      <vt:lpstr>FASCIA Algorithm and Parallelization Overview</vt:lpstr>
      <vt:lpstr>Color-coding approximation strategy</vt:lpstr>
      <vt:lpstr>Color-coding approximation strategy</vt:lpstr>
      <vt:lpstr>Color-coding approximation strategy</vt:lpstr>
      <vt:lpstr>Color-coding approximation strategy</vt:lpstr>
      <vt:lpstr>Color-coding approximation strategy</vt:lpstr>
      <vt:lpstr>FASCIA Algorithm</vt:lpstr>
      <vt:lpstr>Counting step</vt:lpstr>
      <vt:lpstr>Test network families, example templates</vt:lpstr>
      <vt:lpstr>Motifs: frequently-occurring  subgraphs of certain size and structure</vt:lpstr>
      <vt:lpstr>Error</vt:lpstr>
      <vt:lpstr>Error</vt:lpstr>
      <vt:lpstr>Error</vt:lpstr>
      <vt:lpstr>Graphlet degree distributions</vt:lpstr>
      <vt:lpstr>Graphlet frequency distribution agreement scores heatmap</vt:lpstr>
      <vt:lpstr>How similar are PINs to each other?</vt:lpstr>
      <vt:lpstr>Execution times for various template sizes</vt:lpstr>
      <vt:lpstr>Shared-memory strong scaling</vt:lpstr>
      <vt:lpstr>Multi-node strong scaling</vt:lpstr>
      <vt:lpstr>Multi-node strong scaling (communication time)</vt:lpstr>
      <vt:lpstr>FASCIA Summary and Current Work</vt:lpstr>
      <vt:lpstr>Thank you!</vt:lpstr>
      <vt:lpstr>Backup slides</vt:lpstr>
      <vt:lpstr>Subgraph counting</vt:lpstr>
      <vt:lpstr>Subgraph counting</vt:lpstr>
      <vt:lpstr>Subgraph counting</vt:lpstr>
      <vt:lpstr>Subgraph counting</vt:lpstr>
      <vt:lpstr>Subgraph enumeration</vt:lpstr>
      <vt:lpstr>Subgraph enumeration</vt:lpstr>
      <vt:lpstr>Subgraph enumeration</vt:lpstr>
      <vt:lpstr>Subgraph enumeration</vt:lpstr>
      <vt:lpstr>Induced vs. Non-induced subgraphs</vt:lpstr>
      <vt:lpstr>Motivation: Why fast algorithms for subgraph counting?</vt:lpstr>
      <vt:lpstr>GFD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SIAM PP14 talk</dc:title>
  <dc:creator>Kamesh</dc:creator>
  <cp:lastModifiedBy>Kamesh Madduri</cp:lastModifiedBy>
  <cp:revision>73</cp:revision>
  <dcterms:created xsi:type="dcterms:W3CDTF">2008-06-04T20:40:13Z</dcterms:created>
  <dcterms:modified xsi:type="dcterms:W3CDTF">2014-02-21T00:28:43Z</dcterms:modified>
</cp:coreProperties>
</file>